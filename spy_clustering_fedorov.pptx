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sldIdLst>
    <p:sldId id="304" r:id="rId5"/>
    <p:sldId id="287" r:id="rId6"/>
    <p:sldId id="307" r:id="rId7"/>
    <p:sldId id="308" r:id="rId8"/>
    <p:sldId id="309" r:id="rId9"/>
    <p:sldId id="310" r:id="rId10"/>
    <p:sldId id="313" r:id="rId11"/>
    <p:sldId id="311" r:id="rId12"/>
    <p:sldId id="314" r:id="rId13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5" userDrawn="1">
          <p15:clr>
            <a:srgbClr val="A4A3A4"/>
          </p15:clr>
        </p15:guide>
        <p15:guide id="4" pos="1209" userDrawn="1">
          <p15:clr>
            <a:srgbClr val="A4A3A4"/>
          </p15:clr>
        </p15:guide>
        <p15:guide id="5" pos="2955" userDrawn="1">
          <p15:clr>
            <a:srgbClr val="A4A3A4"/>
          </p15:clr>
        </p15:guide>
        <p15:guide id="6" pos="2071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702" userDrawn="1">
          <p15:clr>
            <a:srgbClr val="A4A3A4"/>
          </p15:clr>
        </p15:guide>
        <p15:guide id="11" pos="5586" userDrawn="1">
          <p15:clr>
            <a:srgbClr val="A4A3A4"/>
          </p15:clr>
        </p15:guide>
        <p15:guide id="12" pos="7333" userDrawn="1">
          <p15:clr>
            <a:srgbClr val="A4A3A4"/>
          </p15:clr>
        </p15:guide>
        <p15:guide id="13" orient="horz" pos="3952" userDrawn="1">
          <p15:clr>
            <a:srgbClr val="A4A3A4"/>
          </p15:clr>
        </p15:guide>
        <p15:guide id="15" pos="6471" userDrawn="1">
          <p15:clr>
            <a:srgbClr val="A4A3A4"/>
          </p15:clr>
        </p15:guide>
        <p15:guide id="16" orient="horz" pos="913" userDrawn="1">
          <p15:clr>
            <a:srgbClr val="A4A3A4"/>
          </p15:clr>
        </p15:guide>
        <p15:guide id="17" pos="3341" userDrawn="1">
          <p15:clr>
            <a:srgbClr val="A4A3A4"/>
          </p15:clr>
        </p15:guide>
        <p15:guide id="18" orient="horz" pos="107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тьков Юрий Юрьевич" initials="КЮЮ" lastIdx="4" clrIdx="0">
    <p:extLst>
      <p:ext uri="{19B8F6BF-5375-455C-9EA6-DF929625EA0E}">
        <p15:presenceInfo xmlns:p15="http://schemas.microsoft.com/office/powerpoint/2012/main" userId="S::ykutkov@hse.ru::45dbd1ed-eea1-4925-9fa4-5001421b49d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2D69"/>
    <a:srgbClr val="029C63"/>
    <a:srgbClr val="96628C"/>
    <a:srgbClr val="11A0D7"/>
    <a:srgbClr val="E61F3D"/>
    <a:srgbClr val="CD5A5A"/>
    <a:srgbClr val="FFD746"/>
    <a:srgbClr val="0E2D69"/>
    <a:srgbClr val="D9D9D9"/>
    <a:srgbClr val="EB68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91"/>
    <p:restoredTop sz="94674"/>
  </p:normalViewPr>
  <p:slideViewPr>
    <p:cSldViewPr snapToGrid="0" snapToObjects="1">
      <p:cViewPr varScale="1">
        <p:scale>
          <a:sx n="107" d="100"/>
          <a:sy n="107" d="100"/>
        </p:scale>
        <p:origin x="192" y="58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  <p:guide pos="3341"/>
        <p:guide orient="horz" pos="107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648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61BF4-8B2C-784B-9959-B59A059012C3}" type="datetimeFigureOut">
              <a:rPr lang="en-RU" smtClean="0"/>
              <a:t>06/26/2026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48903-8EB5-294E-A216-6B54B036878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3168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2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5049207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7784A-3E04-24FC-74FC-245140CB4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06F4BF-BD43-2409-D13D-FD251D11E8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1EDA911-7DB9-9CF8-5039-B767A00E30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F9989F8-EB3A-21B5-B485-FA114B4F14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3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215213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44BD0-DAC1-5867-5CED-D2599495C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D737E48-9104-88EF-8625-024E7A1A07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8D08F5F-7797-33D5-A075-396DF557C6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670DC31-354B-33D6-B88D-92306588AF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4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3819524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8B4D9-D3F8-1BE9-A799-DFDC1D527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2131981-CDD6-92F5-AD9E-2647951BA6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40E75C8-CA9B-BBD1-3CF7-7546E05E1A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7915E42-C167-47C0-B7AE-0DD2428313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5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3487153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125C2-A3EA-D018-0E60-55B87157C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74BA6BD-0E2E-A23B-666A-B644ACC3EC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7191FE6-31A6-23AC-008D-B3479E98EF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0BA205A-1FE8-21BB-3786-84E273C2CC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6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2224817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87BA5-9E32-DA97-FF5C-DF0BFE04D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889C446-6501-C882-0384-D761658037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38E1B41-8DD1-AA8E-1218-3DC720028D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8114F02-DD97-70D7-CA1F-844E1E81CD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7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1434541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0CD5-863D-C02B-11F7-6E96F23DD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D6C5E66-419B-FEBA-A01A-4853C2C9F5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53434C-963D-C4F8-7737-FB7ECD185D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155DE5-2224-2596-4C40-31772FE127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8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9957468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DCD46-EA5F-46C0-7F1B-081B7E472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A7C92A6-0C48-1964-A9E1-D77C368C81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7A6F620-E064-B18B-AB68-7CBD65AEC7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780E758-E2BA-9F15-C51F-B7EDBB03C2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9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565724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US" sz="44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pt)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 (12</a:t>
            </a:r>
            <a:r>
              <a:rPr lang="en-GB" sz="12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27967" y="6189042"/>
            <a:ext cx="2217738" cy="23004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1200" dirty="0">
                <a:latin typeface="HSE Sans" panose="02000000000000000000" pitchFamily="2" charset="0"/>
              </a:rPr>
              <a:t>Москва 202</a:t>
            </a:r>
            <a:r>
              <a:rPr lang="en-US" sz="1200" dirty="0">
                <a:latin typeface="HSE Sans" panose="02000000000000000000" pitchFamily="2" charset="0"/>
              </a:rPr>
              <a:t>4</a:t>
            </a:r>
            <a:r>
              <a:rPr lang="ru-RU" sz="1200" dirty="0">
                <a:latin typeface="HSE Sans" panose="02000000000000000000" pitchFamily="2" charset="0"/>
              </a:rPr>
              <a:t> (12</a:t>
            </a:r>
            <a:r>
              <a:rPr lang="en-US" sz="12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 (16 </a:t>
            </a:r>
            <a:r>
              <a:rPr lang="en-US" sz="1600" dirty="0">
                <a:latin typeface="HSE Sans" panose="02000000000000000000" pitchFamily="2" charset="0"/>
              </a:rPr>
              <a:t>pt)</a:t>
            </a:r>
          </a:p>
        </p:txBody>
      </p:sp>
    </p:spTree>
    <p:extLst>
      <p:ext uri="{BB962C8B-B14F-4D97-AF65-F5344CB8AC3E}">
        <p14:creationId xmlns:p14="http://schemas.microsoft.com/office/powerpoint/2010/main" val="1381717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US" sz="44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latin typeface="HSE Sans" panose="02000000000000000000" pitchFamily="2" charset="0"/>
              </a:rPr>
              <a:t>Название факультета</a:t>
            </a:r>
            <a:br>
              <a:rPr lang="ru-RU" sz="1600" dirty="0">
                <a:latin typeface="HSE Sans" panose="02000000000000000000" pitchFamily="2" charset="0"/>
              </a:rPr>
            </a:br>
            <a:r>
              <a:rPr lang="ru-RU" sz="1600" dirty="0">
                <a:latin typeface="HSE Sans" panose="02000000000000000000" pitchFamily="2" charset="0"/>
              </a:rPr>
              <a:t>в две строки (16 </a:t>
            </a:r>
            <a:r>
              <a:rPr lang="en-GB" sz="16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 (12</a:t>
            </a:r>
            <a:r>
              <a:rPr lang="en-GB" sz="12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27967" y="6189042"/>
            <a:ext cx="2217738" cy="23004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1200" dirty="0">
                <a:latin typeface="HSE Sans" panose="02000000000000000000" pitchFamily="2" charset="0"/>
              </a:rPr>
              <a:t>Москва 202</a:t>
            </a:r>
            <a:r>
              <a:rPr lang="en-US" sz="1200" dirty="0">
                <a:latin typeface="HSE Sans" panose="02000000000000000000" pitchFamily="2" charset="0"/>
              </a:rPr>
              <a:t>4</a:t>
            </a:r>
            <a:r>
              <a:rPr lang="ru-RU" sz="1200" dirty="0">
                <a:latin typeface="HSE Sans" panose="02000000000000000000" pitchFamily="2" charset="0"/>
              </a:rPr>
              <a:t> (12</a:t>
            </a:r>
            <a:r>
              <a:rPr lang="en-US" sz="12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 (16 </a:t>
            </a:r>
            <a:r>
              <a:rPr lang="en-US" sz="1600" dirty="0">
                <a:latin typeface="HSE Sans" panose="02000000000000000000" pitchFamily="2" charset="0"/>
              </a:rPr>
              <a:t>pt)</a:t>
            </a:r>
          </a:p>
        </p:txBody>
      </p:sp>
    </p:spTree>
    <p:extLst>
      <p:ext uri="{BB962C8B-B14F-4D97-AF65-F5344CB8AC3E}">
        <p14:creationId xmlns:p14="http://schemas.microsoft.com/office/powerpoint/2010/main" val="4182895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con&#10;&#10;Description automatically generated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prstGeom prst="rect">
            <a:avLst/>
          </a:prstGeo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algn="ctr"/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 (24 </a:t>
            </a:r>
            <a:r>
              <a:rPr lang="en-US" sz="24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>
              <a:spcBef>
                <a:spcPts val="1200"/>
              </a:spcBef>
            </a:pPr>
            <a:r>
              <a:rPr lang="ru-RU" sz="1300" dirty="0">
                <a:latin typeface="HSE Sans" panose="02000000000000000000" pitchFamily="2" charset="0"/>
              </a:rPr>
              <a:t>Небольшие куски текста (13</a:t>
            </a:r>
            <a:r>
              <a:rPr lang="en-US" sz="1300" dirty="0">
                <a:latin typeface="HSE Sans" panose="02000000000000000000" pitchFamily="2" charset="0"/>
              </a:rPr>
              <a:t>pt) </a:t>
            </a:r>
            <a:r>
              <a:rPr lang="ru-RU" sz="1300" dirty="0">
                <a:latin typeface="HSE Sans" panose="02000000000000000000" pitchFamily="2" charset="0"/>
              </a:rPr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  <a:p>
            <a:pPr>
              <a:spcBef>
                <a:spcPts val="1200"/>
              </a:spcBef>
            </a:pP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798C6166-01E6-3A4D-3611-967AEA952E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</p:spTree>
    <p:extLst>
      <p:ext uri="{BB962C8B-B14F-4D97-AF65-F5344CB8AC3E}">
        <p14:creationId xmlns:p14="http://schemas.microsoft.com/office/powerpoint/2010/main" val="1341287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_1">
    <p:bg>
      <p:bgPr>
        <a:solidFill>
          <a:srgbClr val="0F2D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prstGeom prst="rect">
            <a:avLst/>
          </a:prstGeo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algn="ctr"/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 (24 </a:t>
            </a:r>
            <a:r>
              <a:rPr lang="en-US" sz="24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>
              <a:spcBef>
                <a:spcPts val="1200"/>
              </a:spcBef>
            </a:pPr>
            <a:r>
              <a:rPr lang="ru-RU" sz="1300" dirty="0">
                <a:latin typeface="HSE Sans" panose="02000000000000000000" pitchFamily="2" charset="0"/>
              </a:rPr>
              <a:t>Небольшие куски текста (13</a:t>
            </a:r>
            <a:r>
              <a:rPr lang="en-US" sz="1300" dirty="0">
                <a:latin typeface="HSE Sans" panose="02000000000000000000" pitchFamily="2" charset="0"/>
              </a:rPr>
              <a:t>pt) </a:t>
            </a:r>
            <a:r>
              <a:rPr lang="ru-RU" sz="1300" dirty="0">
                <a:latin typeface="HSE Sans" panose="02000000000000000000" pitchFamily="2" charset="0"/>
              </a:rPr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  <a:p>
            <a:pPr>
              <a:spcBef>
                <a:spcPts val="1200"/>
              </a:spcBef>
            </a:pP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3" name="Текст 37">
            <a:extLst>
              <a:ext uri="{FF2B5EF4-FFF2-40B4-BE49-F238E27FC236}">
                <a16:creationId xmlns:a16="http://schemas.microsoft.com/office/drawing/2014/main" id="{ADCA6769-713A-C49E-92DE-E9D7351777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55C193-8C8A-222F-D79E-2AE23A67B14E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chemeClr val="bg1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chemeClr val="bg1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631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FDC66DB8-29BC-5940-A721-40F1002145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6" name="Заголовок 31">
            <a:extLst>
              <a:ext uri="{FF2B5EF4-FFF2-40B4-BE49-F238E27FC236}">
                <a16:creationId xmlns:a16="http://schemas.microsoft.com/office/drawing/2014/main" id="{76942483-EB13-0A4B-8060-DB65024C2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66FAD63B-F743-0F47-BBE3-D77317667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11057971" cy="3745092"/>
          </a:xfrm>
          <a:prstGeom prst="rect">
            <a:avLst/>
          </a:prstGeom>
        </p:spPr>
        <p:txBody>
          <a:bodyPr lIns="0" tIns="0" rIns="0" numCol="3" spcCol="25200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>
              <a:spcBef>
                <a:spcPts val="1200"/>
              </a:spcBef>
            </a:pPr>
            <a:r>
              <a:rPr lang="ru-RU" sz="1300" dirty="0">
                <a:latin typeface="HSE Sans" panose="02000000000000000000" pitchFamily="2" charset="0"/>
              </a:rPr>
              <a:t>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</a:t>
            </a:r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1F48D50A-A262-1C9D-B595-6E723440F8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5DC289-A346-6D52-728C-DBDB0625F3E3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183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0E78CA68-7A0C-CF41-9AC6-A547FB9EC3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/>
              <a:t>pt)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892" y="2379663"/>
            <a:ext cx="5383968" cy="345179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5" name="Текст 37">
            <a:extLst>
              <a:ext uri="{FF2B5EF4-FFF2-40B4-BE49-F238E27FC236}">
                <a16:creationId xmlns:a16="http://schemas.microsoft.com/office/drawing/2014/main" id="{87E14987-3496-B241-A4C9-88FACDD837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5DA233-2840-0CF2-7595-6E920D8F32D3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795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_3">
    <p:bg>
      <p:bgPr>
        <a:solidFill>
          <a:srgbClr val="0F2D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/>
              <a:t>pt)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892" y="2379663"/>
            <a:ext cx="5383968" cy="345179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5" name="Текст 37">
            <a:extLst>
              <a:ext uri="{FF2B5EF4-FFF2-40B4-BE49-F238E27FC236}">
                <a16:creationId xmlns:a16="http://schemas.microsoft.com/office/drawing/2014/main" id="{87E14987-3496-B241-A4C9-88FACDD837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5DA233-2840-0CF2-7595-6E920D8F32D3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chemeClr val="bg1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chemeClr val="bg1"/>
              </a:solidFill>
              <a:latin typeface="HSE Sans" panose="02000000000000000000" pitchFamily="2" charset="0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E56B6ECB-F8B4-2DEC-3445-0731D13294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755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E89D752-CAC6-0943-9A3D-4C52DBF50C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B3F16318-C9C3-B948-A508-4BC53D0B7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23B3E5FB-BBCE-4149-AD9A-8CAB06CC9F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/>
              <a:t>pt)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658542D3-7E45-6E46-8039-27C4C43DD6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57965DCA-4776-7546-97FD-A69317A34CF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947BE6C6-911D-97B1-9FF0-E56E76CE1F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B8F2F7-F867-3733-221D-9105DBD76686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113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11D7C3EB-CCEB-E142-9753-8B2D75A0A8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20" name="Текст 35">
            <a:extLst>
              <a:ext uri="{FF2B5EF4-FFF2-40B4-BE49-F238E27FC236}">
                <a16:creationId xmlns:a16="http://schemas.microsoft.com/office/drawing/2014/main" id="{5812BF3C-1D24-3640-84D2-BFFCA525AE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BCBBDD44-9DC9-F74E-979F-120A7BBD4EE1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7C68DF7B-E804-E44B-83DF-5DC36AF76F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8" y="1447064"/>
            <a:ext cx="4322762" cy="7032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графика. Обратите внимание, что название графика набирается меньшим кеглем, чем заголовок (16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8" name="Текст 35">
            <a:extLst>
              <a:ext uri="{FF2B5EF4-FFF2-40B4-BE49-F238E27FC236}">
                <a16:creationId xmlns:a16="http://schemas.microsoft.com/office/drawing/2014/main" id="{89E931D8-2901-A54D-86EA-096E47B818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/>
              <a:t>pt)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BAA2ABD2-5DD0-5891-721C-8C35607EF2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11CE61-AEA2-6B2E-A6BA-E1FCC0F30308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889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Icon&#10;&#10;Description automatically generated">
            <a:extLst>
              <a:ext uri="{FF2B5EF4-FFF2-40B4-BE49-F238E27FC236}">
                <a16:creationId xmlns:a16="http://schemas.microsoft.com/office/drawing/2014/main" id="{E9A64721-E55E-8749-B29E-51DD895593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3B28B62E-5EE9-834C-9BB6-BD66079B81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Текст 35">
            <a:extLst>
              <a:ext uri="{FF2B5EF4-FFF2-40B4-BE49-F238E27FC236}">
                <a16:creationId xmlns:a16="http://schemas.microsoft.com/office/drawing/2014/main" id="{621215DE-C1FD-2B4C-B236-AF679CF906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5076" y="4103994"/>
            <a:ext cx="2758143" cy="156966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5" name="Текст 35">
            <a:extLst>
              <a:ext uri="{FF2B5EF4-FFF2-40B4-BE49-F238E27FC236}">
                <a16:creationId xmlns:a16="http://schemas.microsoft.com/office/drawing/2014/main" id="{8BC2F90D-0CE0-574C-A7C1-EAA3E6F1AB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47007" y="4103994"/>
            <a:ext cx="2757612" cy="156966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6" name="Текст 35">
            <a:extLst>
              <a:ext uri="{FF2B5EF4-FFF2-40B4-BE49-F238E27FC236}">
                <a16:creationId xmlns:a16="http://schemas.microsoft.com/office/drawing/2014/main" id="{239E188B-2696-8A48-9F8A-36223EEF6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18938" y="4103994"/>
            <a:ext cx="2757612" cy="156966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379BF4C6-F899-294C-B88E-8363AFBEEC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076" y="2710235"/>
            <a:ext cx="2758143" cy="116411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152</a:t>
            </a:r>
            <a:endParaRPr lang="ru-RU" dirty="0"/>
          </a:p>
        </p:txBody>
      </p:sp>
      <p:sp>
        <p:nvSpPr>
          <p:cNvPr id="29" name="Текст 27">
            <a:extLst>
              <a:ext uri="{FF2B5EF4-FFF2-40B4-BE49-F238E27FC236}">
                <a16:creationId xmlns:a16="http://schemas.microsoft.com/office/drawing/2014/main" id="{DE7F352B-F6D9-B545-A835-443A55956E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47007" y="2710235"/>
            <a:ext cx="2758143" cy="116411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95</a:t>
            </a:r>
            <a:endParaRPr lang="ru-RU" dirty="0"/>
          </a:p>
        </p:txBody>
      </p:sp>
      <p:sp>
        <p:nvSpPr>
          <p:cNvPr id="30" name="Текст 27">
            <a:extLst>
              <a:ext uri="{FF2B5EF4-FFF2-40B4-BE49-F238E27FC236}">
                <a16:creationId xmlns:a16="http://schemas.microsoft.com/office/drawing/2014/main" id="{D1D5AF9F-C1B0-7842-8789-1DB8963D98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18938" y="2710235"/>
            <a:ext cx="2758143" cy="116411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284</a:t>
            </a:r>
            <a:endParaRPr lang="ru-RU" dirty="0"/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E37F1E9B-DA02-8B04-5D66-6E70B18F87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33964B-EB89-8BAB-E7B2-D61619F5CBD2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052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C5425806-16DD-844E-927C-26E7143A9E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5" name="Текст 22">
            <a:extLst>
              <a:ext uri="{FF2B5EF4-FFF2-40B4-BE49-F238E27FC236}">
                <a16:creationId xmlns:a16="http://schemas.microsoft.com/office/drawing/2014/main" id="{51340CB4-0355-3640-A212-F684523CDC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5"/>
            <a:ext cx="11058065" cy="30777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8C6F2EA4-CEDC-324C-9C06-8713118041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x-none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19" name="Таблица 18">
            <a:extLst>
              <a:ext uri="{FF2B5EF4-FFF2-40B4-BE49-F238E27FC236}">
                <a16:creationId xmlns:a16="http://schemas.microsoft.com/office/drawing/2014/main" id="{7B291085-A9B9-D842-B1A7-96258FAF012C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1984076"/>
            <a:ext cx="11058527" cy="3519576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F9D02078-C44D-FDC7-F016-AAA697B369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8842E0-94A4-7C95-6167-A4343D4F4EBC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1603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259ABC72-D738-1143-BF2A-D85AE9A4F7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8" name="Текст 22">
            <a:extLst>
              <a:ext uri="{FF2B5EF4-FFF2-40B4-BE49-F238E27FC236}">
                <a16:creationId xmlns:a16="http://schemas.microsoft.com/office/drawing/2014/main" id="{4D940599-2B77-CE47-91E6-CDB51ADE1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4"/>
            <a:ext cx="7617877" cy="5370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</a:t>
            </a:r>
            <a:b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набирается меньшим кеглем, чем заголовок (16</a:t>
            </a:r>
            <a:r>
              <a:rPr lang="en-US" sz="16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A7333712-9DED-4F4B-B209-2F13075EDB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x-none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20" name="Таблица 18">
            <a:extLst>
              <a:ext uri="{FF2B5EF4-FFF2-40B4-BE49-F238E27FC236}">
                <a16:creationId xmlns:a16="http://schemas.microsoft.com/office/drawing/2014/main" id="{DD467C42-8209-B740-8419-DBB6A6F7D5EE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2208362"/>
            <a:ext cx="7617895" cy="329529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21" name="Текст 35">
            <a:extLst>
              <a:ext uri="{FF2B5EF4-FFF2-40B4-BE49-F238E27FC236}">
                <a16:creationId xmlns:a16="http://schemas.microsoft.com/office/drawing/2014/main" id="{B4309850-76EA-224C-A9E2-B6BBDBF99D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6807" y="2208363"/>
            <a:ext cx="2930666" cy="2570672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/>
              <a:t>pt)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</a:t>
            </a:r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A4F7150B-29F6-E02B-DF03-A6CF1DAE14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A3D227-70C3-C589-760B-7B2358309F01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771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328428E-0D3D-6E4B-BAC0-3F63BAF7DB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9" name="Заголовок 31">
            <a:extLst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/>
          <p:nvPr userDrawn="1"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/>
          <p:nvPr userDrawn="1"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/>
          <p:nvPr userDrawn="1"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/>
          <p:nvPr userDrawn="1"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/>
          <p:nvPr userDrawn="1"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/>
          <p:nvPr userDrawn="1"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/>
          <p:nvPr userDrawn="1"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/>
          <p:nvPr userDrawn="1"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/>
          <p:nvPr userDrawn="1"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/>
          <p:nvPr userDrawn="1"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1" name="Oval 37">
            <a:extLst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/>
          <p:nvPr userDrawn="1"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2" name="Oval 38">
            <a:extLst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/>
          <p:nvPr userDrawn="1"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3" name="Oval 39">
            <a:extLst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/>
          <p:nvPr userDrawn="1"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4" name="Oval 40">
            <a:extLst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/>
          <p:nvPr userDrawn="1"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5" name="Oval 41">
            <a:extLst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/>
          <p:nvPr userDrawn="1"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6" name="Oval 42">
            <a:extLst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/>
          <p:nvPr userDrawn="1"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7" name="Oval 43">
            <a:extLst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/>
          <p:nvPr userDrawn="1"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/>
          <p:nvPr userDrawn="1"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9" name="Oval 45">
            <a:extLst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/>
          <p:nvPr userDrawn="1"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0" name="Oval 46">
            <a:extLst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/>
          <p:nvPr userDrawn="1"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817FAA25-7AFF-120D-E11E-23900BC363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827A0B-4041-FA0E-8E19-B1E358B43497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70546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A7FA04E4-3213-8F41-B068-4DC2814414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2" name="Текст 37">
            <a:extLst>
              <a:ext uri="{FF2B5EF4-FFF2-40B4-BE49-F238E27FC236}">
                <a16:creationId xmlns:a16="http://schemas.microsoft.com/office/drawing/2014/main" id="{54F64357-E931-2C80-4961-FDAC6AD52A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Заголовок 31">
            <a:extLst>
              <a:ext uri="{FF2B5EF4-FFF2-40B4-BE49-F238E27FC236}">
                <a16:creationId xmlns:a16="http://schemas.microsoft.com/office/drawing/2014/main" id="{B4ECCF55-736F-5DD2-72AF-D683B18FEC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B48259-00E8-7932-5CD7-1A445FA86E5D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209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чистый_2">
    <p:bg>
      <p:bgPr>
        <a:solidFill>
          <a:srgbClr val="0F2D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B04E4D2A-55A2-2F42-5D5C-467DF3CA9C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5" name="Текст 37">
            <a:extLst>
              <a:ext uri="{FF2B5EF4-FFF2-40B4-BE49-F238E27FC236}">
                <a16:creationId xmlns:a16="http://schemas.microsoft.com/office/drawing/2014/main" id="{46122766-31E7-B290-0B7D-277417BEA3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6" name="Заголовок 31">
            <a:extLst>
              <a:ext uri="{FF2B5EF4-FFF2-40B4-BE49-F238E27FC236}">
                <a16:creationId xmlns:a16="http://schemas.microsoft.com/office/drawing/2014/main" id="{7A60AC51-9662-2A08-7297-1D1D3632CF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C49F95-69E0-D3A2-1DD8-AED9B6E77AFE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chemeClr val="bg1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chemeClr val="bg1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1100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4EF4727E-E2C9-E01B-F8F7-345AD903BF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96000" y="2529000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642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чистый">
    <p:bg>
      <p:bgPr>
        <a:solidFill>
          <a:srgbClr val="0F2D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>
            <a:extLst>
              <a:ext uri="{FF2B5EF4-FFF2-40B4-BE49-F238E27FC236}">
                <a16:creationId xmlns:a16="http://schemas.microsoft.com/office/drawing/2014/main" id="{70409579-9A00-AFB8-5E22-CD53B201BC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196000" y="2529000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2386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8506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49" r:id="rId2"/>
    <p:sldLayoutId id="2147483660" r:id="rId3"/>
    <p:sldLayoutId id="2147483663" r:id="rId4"/>
    <p:sldLayoutId id="2147483661" r:id="rId5"/>
    <p:sldLayoutId id="2147483650" r:id="rId6"/>
    <p:sldLayoutId id="2147483666" r:id="rId7"/>
    <p:sldLayoutId id="2147483651" r:id="rId8"/>
    <p:sldLayoutId id="2147483652" r:id="rId9"/>
    <p:sldLayoutId id="2147483654" r:id="rId10"/>
    <p:sldLayoutId id="2147483655" r:id="rId11"/>
    <p:sldLayoutId id="2147483656" r:id="rId12"/>
    <p:sldLayoutId id="2147483658" r:id="rId13"/>
    <p:sldLayoutId id="2147483657" r:id="rId14"/>
    <p:sldLayoutId id="2147483664" r:id="rId15"/>
    <p:sldLayoutId id="2147483659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A1E241-242E-DD0A-44F9-E3419A05B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967" y="1969610"/>
            <a:ext cx="9555089" cy="2549660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solidFill>
                  <a:schemeClr val="tx1">
                    <a:lumMod val="50000"/>
                  </a:schemeClr>
                </a:solidFill>
                <a:ea typeface="Calibri" pitchFamily="34" charset="-122"/>
                <a:cs typeface="Times New Roman" panose="02020603050405020304" pitchFamily="18" charset="0"/>
              </a:rPr>
              <a:t>Генерация торговых сигналов с помощью метода прогнозирования на основе кластеризации 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400" dirty="0">
                <a:latin typeface="HSE Sans" panose="02000000000000000000"/>
              </a:rPr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00E710-571C-98F6-BA66-BFF02C864F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Факультет компьютерных наук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0FD3B58-6E3C-E257-9131-75703D1101C7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ru-RU" dirty="0"/>
              <a:t>Москва 2026</a:t>
            </a:r>
          </a:p>
        </p:txBody>
      </p:sp>
      <p:sp>
        <p:nvSpPr>
          <p:cNvPr id="7" name="Text 22">
            <a:extLst>
              <a:ext uri="{FF2B5EF4-FFF2-40B4-BE49-F238E27FC236}">
                <a16:creationId xmlns:a16="http://schemas.microsoft.com/office/drawing/2014/main" id="{F59076F6-1368-735F-B011-6456AA129F43}"/>
              </a:ext>
            </a:extLst>
          </p:cNvPr>
          <p:cNvSpPr/>
          <p:nvPr/>
        </p:nvSpPr>
        <p:spPr>
          <a:xfrm>
            <a:off x="1027967" y="467826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400" dirty="0">
                <a:solidFill>
                  <a:schemeClr val="tx1">
                    <a:lumMod val="50000"/>
                  </a:schemeClr>
                </a:solidFill>
                <a:latin typeface="HSE Sans" panose="02000000000000000000"/>
                <a:ea typeface="Calibri" pitchFamily="34" charset="-122"/>
                <a:cs typeface="Times New Roman" panose="02020603050405020304" pitchFamily="18" charset="0"/>
              </a:rPr>
              <a:t>Автор</a:t>
            </a:r>
            <a:r>
              <a:rPr lang="en-US" sz="1400" dirty="0">
                <a:solidFill>
                  <a:schemeClr val="tx1">
                    <a:lumMod val="50000"/>
                  </a:schemeClr>
                </a:solidFill>
                <a:latin typeface="HSE Sans" panose="02000000000000000000"/>
                <a:ea typeface="Calibri" pitchFamily="34" charset="-122"/>
                <a:cs typeface="Times New Roman" panose="02020603050405020304" pitchFamily="18" charset="0"/>
              </a:rPr>
              <a:t>:</a:t>
            </a:r>
            <a:r>
              <a:rPr lang="ru-RU" sz="1400" dirty="0">
                <a:solidFill>
                  <a:schemeClr val="tx1">
                    <a:lumMod val="50000"/>
                  </a:schemeClr>
                </a:solidFill>
                <a:latin typeface="HSE Sans" panose="02000000000000000000"/>
                <a:ea typeface="Calibri" pitchFamily="34" charset="-122"/>
                <a:cs typeface="Times New Roman" panose="02020603050405020304" pitchFamily="18" charset="0"/>
              </a:rPr>
              <a:t> Федоров Данила Дмитриевич</a:t>
            </a:r>
            <a:r>
              <a:rPr lang="en-US" sz="1400" dirty="0">
                <a:solidFill>
                  <a:schemeClr val="tx1">
                    <a:lumMod val="50000"/>
                  </a:schemeClr>
                </a:solidFill>
                <a:latin typeface="HSE Sans" panose="0200000000000000000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ru-RU" sz="1400" dirty="0">
                <a:solidFill>
                  <a:schemeClr val="tx1">
                    <a:lumMod val="50000"/>
                  </a:schemeClr>
                </a:solidFill>
                <a:latin typeface="HSE Sans" panose="02000000000000000000"/>
                <a:ea typeface="Calibri" pitchFamily="34" charset="-122"/>
                <a:cs typeface="Times New Roman" panose="02020603050405020304" pitchFamily="18" charset="0"/>
              </a:rPr>
              <a:t>МФТАД251</a:t>
            </a:r>
          </a:p>
        </p:txBody>
      </p:sp>
      <p:sp>
        <p:nvSpPr>
          <p:cNvPr id="8" name="Text 23">
            <a:extLst>
              <a:ext uri="{FF2B5EF4-FFF2-40B4-BE49-F238E27FC236}">
                <a16:creationId xmlns:a16="http://schemas.microsoft.com/office/drawing/2014/main" id="{C5EF1514-D475-43E1-0A37-C946349E9456}"/>
              </a:ext>
            </a:extLst>
          </p:cNvPr>
          <p:cNvSpPr/>
          <p:nvPr/>
        </p:nvSpPr>
        <p:spPr>
          <a:xfrm>
            <a:off x="1027967" y="520301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400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Times New Roman" panose="02020603050405020304" pitchFamily="18" charset="0"/>
              </a:rPr>
              <a:t>Научный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ru-RU" sz="1400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Times New Roman" panose="02020603050405020304" pitchFamily="18" charset="0"/>
              </a:rPr>
              <a:t>руководитель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Times New Roman" panose="02020603050405020304" pitchFamily="18" charset="0"/>
              </a:rPr>
              <a:t>:</a:t>
            </a:r>
            <a:r>
              <a:rPr lang="ru-RU" sz="1400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Times New Roman" panose="02020603050405020304" pitchFamily="18" charset="0"/>
              </a:rPr>
              <a:t>Томащук</a:t>
            </a:r>
            <a:r>
              <a:rPr lang="ru-RU" sz="1400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Times New Roman" panose="02020603050405020304" pitchFamily="18" charset="0"/>
              </a:rPr>
              <a:t> Корней Кириллович, </a:t>
            </a:r>
            <a:r>
              <a:rPr lang="ru-RU" sz="1400" dirty="0">
                <a:solidFill>
                  <a:schemeClr val="bg2">
                    <a:lumMod val="10000"/>
                  </a:schemeClr>
                </a:solidFill>
              </a:rPr>
              <a:t>Преподаватель ДАДИИ, ФКН, НИУ ВШЭ</a:t>
            </a:r>
            <a:endParaRPr lang="en-US" sz="1400" dirty="0">
              <a:solidFill>
                <a:schemeClr val="bg2">
                  <a:lumMod val="10000"/>
                </a:schemeClr>
              </a:solidFill>
              <a:latin typeface="HSE Sans" panose="02000000000000000000"/>
              <a:ea typeface="Calibri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4832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E2C85C7-C75C-47B7-474F-EAB03A0ACCF4}"/>
              </a:ext>
            </a:extLst>
          </p:cNvPr>
          <p:cNvSpPr/>
          <p:nvPr/>
        </p:nvSpPr>
        <p:spPr>
          <a:xfrm>
            <a:off x="1036320" y="5486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Введение</a:t>
            </a:r>
            <a:r>
              <a:rPr lang="en-US" sz="1100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   |   </a:t>
            </a:r>
            <a:r>
              <a:rPr lang="en-US" sz="1100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Актуальность, цель и задачи</a:t>
            </a:r>
            <a:endParaRPr lang="en-US" sz="11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7" name="Shape 11">
            <a:extLst>
              <a:ext uri="{FF2B5EF4-FFF2-40B4-BE49-F238E27FC236}">
                <a16:creationId xmlns:a16="http://schemas.microsoft.com/office/drawing/2014/main" id="{6E396907-2757-A0AD-C304-DE88C5459BF2}"/>
              </a:ext>
            </a:extLst>
          </p:cNvPr>
          <p:cNvSpPr/>
          <p:nvPr/>
        </p:nvSpPr>
        <p:spPr>
          <a:xfrm>
            <a:off x="502920" y="3886200"/>
            <a:ext cx="2697480" cy="2240280"/>
          </a:xfrm>
          <a:prstGeom prst="roundRect">
            <a:avLst>
              <a:gd name="adj" fmla="val 2041"/>
            </a:avLst>
          </a:prstGeom>
          <a:solidFill>
            <a:srgbClr val="F4F6F9"/>
          </a:solidFill>
          <a:ln/>
        </p:spPr>
      </p:sp>
      <p:sp>
        <p:nvSpPr>
          <p:cNvPr id="8" name="Shape 12">
            <a:extLst>
              <a:ext uri="{FF2B5EF4-FFF2-40B4-BE49-F238E27FC236}">
                <a16:creationId xmlns:a16="http://schemas.microsoft.com/office/drawing/2014/main" id="{A92FB9DE-FEDF-F602-2AF7-E8DFA414B822}"/>
              </a:ext>
            </a:extLst>
          </p:cNvPr>
          <p:cNvSpPr/>
          <p:nvPr/>
        </p:nvSpPr>
        <p:spPr>
          <a:xfrm>
            <a:off x="685800" y="4069080"/>
            <a:ext cx="457200" cy="457200"/>
          </a:xfrm>
          <a:prstGeom prst="ellipse">
            <a:avLst/>
          </a:prstGeom>
          <a:solidFill>
            <a:srgbClr val="0F2C4C"/>
          </a:solidFill>
          <a:ln/>
        </p:spPr>
      </p:sp>
      <p:sp>
        <p:nvSpPr>
          <p:cNvPr id="9" name="Text 13">
            <a:extLst>
              <a:ext uri="{FF2B5EF4-FFF2-40B4-BE49-F238E27FC236}">
                <a16:creationId xmlns:a16="http://schemas.microsoft.com/office/drawing/2014/main" id="{13359AC3-D2C3-64CA-3D81-1CBB316AF259}"/>
              </a:ext>
            </a:extLst>
          </p:cNvPr>
          <p:cNvSpPr/>
          <p:nvPr/>
        </p:nvSpPr>
        <p:spPr>
          <a:xfrm>
            <a:off x="68580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>
              <a:solidFill>
                <a:schemeClr val="bg1"/>
              </a:solidFill>
              <a:latin typeface="HSE Sans" panose="02000000000000000000"/>
            </a:endParaRPr>
          </a:p>
        </p:txBody>
      </p:sp>
      <p:sp>
        <p:nvSpPr>
          <p:cNvPr id="10" name="Text 14">
            <a:extLst>
              <a:ext uri="{FF2B5EF4-FFF2-40B4-BE49-F238E27FC236}">
                <a16:creationId xmlns:a16="http://schemas.microsoft.com/office/drawing/2014/main" id="{27555C22-94FF-94FC-EE5F-3D5639ACDACB}"/>
              </a:ext>
            </a:extLst>
          </p:cNvPr>
          <p:cNvSpPr/>
          <p:nvPr/>
        </p:nvSpPr>
        <p:spPr>
          <a:xfrm>
            <a:off x="685800" y="46634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Реализовать метод</a:t>
            </a:r>
            <a:endParaRPr lang="en-US" sz="14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B635A5EF-4951-CABD-019F-6A1A54C9D773}"/>
              </a:ext>
            </a:extLst>
          </p:cNvPr>
          <p:cNvSpPr/>
          <p:nvPr/>
        </p:nvSpPr>
        <p:spPr>
          <a:xfrm>
            <a:off x="685800" y="51663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delay-векторы → кластеризация → сигнал</a:t>
            </a:r>
            <a:endParaRPr lang="en-US" sz="12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C5847F5D-B1FB-2FB4-2CB4-CFD9A07812CD}"/>
              </a:ext>
            </a:extLst>
          </p:cNvPr>
          <p:cNvSpPr/>
          <p:nvPr/>
        </p:nvSpPr>
        <p:spPr>
          <a:xfrm>
            <a:off x="3300984" y="3886200"/>
            <a:ext cx="2697480" cy="2240280"/>
          </a:xfrm>
          <a:prstGeom prst="roundRect">
            <a:avLst>
              <a:gd name="adj" fmla="val 2041"/>
            </a:avLst>
          </a:prstGeom>
          <a:solidFill>
            <a:srgbClr val="F4F6F9"/>
          </a:solidFill>
          <a:ln/>
        </p:spPr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4FF692CB-8EA4-8C1C-F5D8-A9D78D16CBF4}"/>
              </a:ext>
            </a:extLst>
          </p:cNvPr>
          <p:cNvSpPr/>
          <p:nvPr/>
        </p:nvSpPr>
        <p:spPr>
          <a:xfrm>
            <a:off x="3483864" y="4069080"/>
            <a:ext cx="457200" cy="457200"/>
          </a:xfrm>
          <a:prstGeom prst="ellipse">
            <a:avLst/>
          </a:prstGeom>
          <a:solidFill>
            <a:srgbClr val="0F2C4C"/>
          </a:solidFill>
          <a:ln/>
        </p:spPr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2CA217A5-404B-7F6B-9A73-AEEEFC27EFB1}"/>
              </a:ext>
            </a:extLst>
          </p:cNvPr>
          <p:cNvSpPr/>
          <p:nvPr/>
        </p:nvSpPr>
        <p:spPr>
          <a:xfrm>
            <a:off x="3483864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>
              <a:solidFill>
                <a:schemeClr val="bg1"/>
              </a:solidFill>
              <a:latin typeface="HSE Sans" panose="02000000000000000000"/>
            </a:endParaRPr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7D030CCD-4C95-3A42-1D35-3919DD15E538}"/>
              </a:ext>
            </a:extLst>
          </p:cNvPr>
          <p:cNvSpPr/>
          <p:nvPr/>
        </p:nvSpPr>
        <p:spPr>
          <a:xfrm>
            <a:off x="3483864" y="46634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Построить протокол</a:t>
            </a:r>
            <a:endParaRPr lang="en-US" sz="14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0E230B7B-DFCF-6EA2-B730-F367913EDF66}"/>
              </a:ext>
            </a:extLst>
          </p:cNvPr>
          <p:cNvSpPr/>
          <p:nvPr/>
        </p:nvSpPr>
        <p:spPr>
          <a:xfrm>
            <a:off x="3483864" y="51663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walk-forward с изоляцией и издержками</a:t>
            </a:r>
            <a:endParaRPr lang="en-US" sz="12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1EAA40E0-CCC8-4AAA-14E5-5A77E90DC7FC}"/>
              </a:ext>
            </a:extLst>
          </p:cNvPr>
          <p:cNvSpPr/>
          <p:nvPr/>
        </p:nvSpPr>
        <p:spPr>
          <a:xfrm>
            <a:off x="6099048" y="3886200"/>
            <a:ext cx="2697480" cy="2240280"/>
          </a:xfrm>
          <a:prstGeom prst="roundRect">
            <a:avLst>
              <a:gd name="adj" fmla="val 2041"/>
            </a:avLst>
          </a:prstGeom>
          <a:solidFill>
            <a:srgbClr val="F4F6F9"/>
          </a:solidFill>
          <a:ln/>
        </p:spPr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91CCDD67-9EF7-E92F-751A-6FA071A4C4F5}"/>
              </a:ext>
            </a:extLst>
          </p:cNvPr>
          <p:cNvSpPr/>
          <p:nvPr/>
        </p:nvSpPr>
        <p:spPr>
          <a:xfrm>
            <a:off x="6281928" y="4069080"/>
            <a:ext cx="457200" cy="457200"/>
          </a:xfrm>
          <a:prstGeom prst="ellipse">
            <a:avLst/>
          </a:prstGeom>
          <a:solidFill>
            <a:srgbClr val="0F2C4C"/>
          </a:solidFill>
          <a:ln/>
        </p:spPr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6D2B17E8-2BA1-735A-2DEE-3DB79B84C6B7}"/>
              </a:ext>
            </a:extLst>
          </p:cNvPr>
          <p:cNvSpPr/>
          <p:nvPr/>
        </p:nvSpPr>
        <p:spPr>
          <a:xfrm>
            <a:off x="6281928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>
              <a:solidFill>
                <a:schemeClr val="bg1"/>
              </a:solidFill>
              <a:latin typeface="HSE Sans" panose="02000000000000000000"/>
            </a:endParaRPr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98A5BBB5-D36B-5114-BD35-84BE1E3280D4}"/>
              </a:ext>
            </a:extLst>
          </p:cNvPr>
          <p:cNvSpPr/>
          <p:nvPr/>
        </p:nvSpPr>
        <p:spPr>
          <a:xfrm>
            <a:off x="6281928" y="46634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Эмпирически проверить</a:t>
            </a:r>
            <a:endParaRPr lang="en-US" sz="14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345E4144-0512-99F1-88CA-A0C9114FFF8B}"/>
              </a:ext>
            </a:extLst>
          </p:cNvPr>
          <p:cNvSpPr/>
          <p:nvPr/>
        </p:nvSpPr>
        <p:spPr>
          <a:xfrm>
            <a:off x="6281928" y="51663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на pseudo-OOS серии 2011–2025</a:t>
            </a:r>
            <a:endParaRPr lang="en-US" sz="12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DE011DFB-F496-18F6-06B1-57EE6B28E8D9}"/>
              </a:ext>
            </a:extLst>
          </p:cNvPr>
          <p:cNvSpPr/>
          <p:nvPr/>
        </p:nvSpPr>
        <p:spPr>
          <a:xfrm>
            <a:off x="8897112" y="3886200"/>
            <a:ext cx="2697480" cy="2240280"/>
          </a:xfrm>
          <a:prstGeom prst="roundRect">
            <a:avLst>
              <a:gd name="adj" fmla="val 2041"/>
            </a:avLst>
          </a:prstGeom>
          <a:solidFill>
            <a:srgbClr val="F4F6F9"/>
          </a:solidFill>
          <a:ln/>
        </p:spPr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B82CCF4D-DBFA-AA7F-75F1-018D842E595B}"/>
              </a:ext>
            </a:extLst>
          </p:cNvPr>
          <p:cNvSpPr/>
          <p:nvPr/>
        </p:nvSpPr>
        <p:spPr>
          <a:xfrm>
            <a:off x="9079992" y="4069080"/>
            <a:ext cx="457200" cy="457200"/>
          </a:xfrm>
          <a:prstGeom prst="ellipse">
            <a:avLst/>
          </a:prstGeom>
          <a:solidFill>
            <a:srgbClr val="0F2C4C"/>
          </a:solidFill>
          <a:ln/>
        </p:spPr>
      </p:sp>
      <p:sp>
        <p:nvSpPr>
          <p:cNvPr id="28" name="Text 28">
            <a:extLst>
              <a:ext uri="{FF2B5EF4-FFF2-40B4-BE49-F238E27FC236}">
                <a16:creationId xmlns:a16="http://schemas.microsoft.com/office/drawing/2014/main" id="{6841BBBC-0658-8EE0-31C7-A85009220311}"/>
              </a:ext>
            </a:extLst>
          </p:cNvPr>
          <p:cNvSpPr/>
          <p:nvPr/>
        </p:nvSpPr>
        <p:spPr>
          <a:xfrm>
            <a:off x="9079992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>
              <a:solidFill>
                <a:schemeClr val="bg1"/>
              </a:solidFill>
              <a:latin typeface="HSE Sans" panose="02000000000000000000"/>
            </a:endParaRPr>
          </a:p>
        </p:txBody>
      </p:sp>
      <p:sp>
        <p:nvSpPr>
          <p:cNvPr id="29" name="Text 29">
            <a:extLst>
              <a:ext uri="{FF2B5EF4-FFF2-40B4-BE49-F238E27FC236}">
                <a16:creationId xmlns:a16="http://schemas.microsoft.com/office/drawing/2014/main" id="{9D65009A-9119-CBB1-F4E0-648D7C4F738F}"/>
              </a:ext>
            </a:extLst>
          </p:cNvPr>
          <p:cNvSpPr/>
          <p:nvPr/>
        </p:nvSpPr>
        <p:spPr>
          <a:xfrm>
            <a:off x="9079992" y="46634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Анализ устойчивости</a:t>
            </a:r>
            <a:endParaRPr lang="en-US" sz="14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EBC04937-9137-8811-8950-02FBB95A7908}"/>
              </a:ext>
            </a:extLst>
          </p:cNvPr>
          <p:cNvSpPr/>
          <p:nvPr/>
        </p:nvSpPr>
        <p:spPr>
          <a:xfrm>
            <a:off x="9079992" y="51663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5000"/>
              </a:lnSpc>
              <a:buNone/>
            </a:pPr>
            <a:r>
              <a:rPr lang="en-US" sz="1100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параметры, алгоритмы, период, </a:t>
            </a: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множественное тестирование</a:t>
            </a:r>
            <a:endParaRPr lang="en-US" sz="11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31" name="Shape 3">
            <a:extLst>
              <a:ext uri="{FF2B5EF4-FFF2-40B4-BE49-F238E27FC236}">
                <a16:creationId xmlns:a16="http://schemas.microsoft.com/office/drawing/2014/main" id="{681786C2-534C-1F96-44E4-12D0EFD9CA0F}"/>
              </a:ext>
            </a:extLst>
          </p:cNvPr>
          <p:cNvSpPr/>
          <p:nvPr/>
        </p:nvSpPr>
        <p:spPr>
          <a:xfrm>
            <a:off x="475488" y="1623060"/>
            <a:ext cx="6583680" cy="1874520"/>
          </a:xfrm>
          <a:prstGeom prst="roundRect">
            <a:avLst>
              <a:gd name="adj" fmla="val 2439"/>
            </a:avLst>
          </a:prstGeom>
          <a:solidFill>
            <a:srgbClr val="F4F6F9"/>
          </a:solidFill>
          <a:ln/>
        </p:spPr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F0947B3D-682F-B6A2-BF0E-237C49C75578}"/>
              </a:ext>
            </a:extLst>
          </p:cNvPr>
          <p:cNvSpPr/>
          <p:nvPr/>
        </p:nvSpPr>
        <p:spPr>
          <a:xfrm>
            <a:off x="658368" y="17602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33" name="Text 5">
            <a:extLst>
              <a:ext uri="{FF2B5EF4-FFF2-40B4-BE49-F238E27FC236}">
                <a16:creationId xmlns:a16="http://schemas.microsoft.com/office/drawing/2014/main" id="{1D60E296-C88E-0B34-2B08-18D7B3EB43A4}"/>
              </a:ext>
            </a:extLst>
          </p:cNvPr>
          <p:cNvSpPr/>
          <p:nvPr/>
        </p:nvSpPr>
        <p:spPr>
          <a:xfrm>
            <a:off x="658368" y="2061972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en-US" sz="1250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Гипотеза эффективного рынка </a:t>
            </a:r>
            <a:r>
              <a:rPr lang="en-US" sz="1250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[2] — цены непредсказуемы. Нелинейная динамика [1] допускает локальную предсказуемость через структуру фазового пространства.</a:t>
            </a:r>
            <a:endParaRPr lang="en-US" sz="125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F22F1BE1-DAF8-41C2-4DAD-C9AE879F367E}"/>
              </a:ext>
            </a:extLst>
          </p:cNvPr>
          <p:cNvSpPr/>
          <p:nvPr/>
        </p:nvSpPr>
        <p:spPr>
          <a:xfrm>
            <a:off x="658368" y="285750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en-US" sz="1250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Эмпирика хаоса противоречива: от наличия зависимости [8, 11] до «хаоса нет, показатель Ляпунова совместим с нулём» [10].</a:t>
            </a:r>
            <a:endParaRPr lang="en-US" sz="125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35" name="Shape 7">
            <a:extLst>
              <a:ext uri="{FF2B5EF4-FFF2-40B4-BE49-F238E27FC236}">
                <a16:creationId xmlns:a16="http://schemas.microsoft.com/office/drawing/2014/main" id="{ECAA8EA6-D601-02CD-D95A-EFFCE51344AB}"/>
              </a:ext>
            </a:extLst>
          </p:cNvPr>
          <p:cNvSpPr/>
          <p:nvPr/>
        </p:nvSpPr>
        <p:spPr>
          <a:xfrm>
            <a:off x="7287768" y="1623060"/>
            <a:ext cx="4370832" cy="1874520"/>
          </a:xfrm>
          <a:prstGeom prst="roundRect">
            <a:avLst>
              <a:gd name="adj" fmla="val 2439"/>
            </a:avLst>
          </a:prstGeom>
          <a:solidFill>
            <a:srgbClr val="0F2C4C"/>
          </a:solidFill>
          <a:ln/>
        </p:spPr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48DC58BB-8F0C-877A-2726-C63B71D7EC3B}"/>
              </a:ext>
            </a:extLst>
          </p:cNvPr>
          <p:cNvSpPr/>
          <p:nvPr/>
        </p:nvSpPr>
        <p:spPr>
          <a:xfrm>
            <a:off x="7470648" y="2061972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1"/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Проверить, способна ли </a:t>
            </a:r>
            <a:r>
              <a:rPr lang="en-US" sz="1250" dirty="0" err="1">
                <a:solidFill>
                  <a:schemeClr val="bg1"/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кластеризация</a:t>
            </a:r>
            <a:r>
              <a:rPr lang="en-US" sz="1250" dirty="0">
                <a:solidFill>
                  <a:schemeClr val="bg1"/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chemeClr val="bg1"/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векторов</a:t>
            </a:r>
            <a:r>
              <a:rPr lang="ru-RU" sz="1250" dirty="0">
                <a:solidFill>
                  <a:schemeClr val="bg1"/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 задержек</a:t>
            </a:r>
            <a:r>
              <a:rPr lang="en-US" sz="1250" dirty="0">
                <a:solidFill>
                  <a:schemeClr val="bg1"/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chemeClr val="bg1"/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выделять</a:t>
            </a:r>
            <a:r>
              <a:rPr lang="en-US" sz="1250" dirty="0">
                <a:solidFill>
                  <a:schemeClr val="bg1"/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250" dirty="0">
                <a:solidFill>
                  <a:schemeClr val="bg1"/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статистически значимые </a:t>
            </a:r>
            <a:r>
              <a:rPr lang="en-US" sz="1250" dirty="0" err="1">
                <a:solidFill>
                  <a:schemeClr val="bg1"/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торговые</a:t>
            </a:r>
            <a:r>
              <a:rPr lang="en-US" sz="1250" dirty="0">
                <a:solidFill>
                  <a:schemeClr val="bg1"/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chemeClr val="bg1"/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состояния</a:t>
            </a:r>
            <a:r>
              <a:rPr lang="en-US" sz="1250" dirty="0">
                <a:solidFill>
                  <a:schemeClr val="bg1"/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chemeClr val="bg1"/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250" dirty="0">
                <a:solidFill>
                  <a:schemeClr val="bg1"/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 ликвидном инструменте.
</a:t>
            </a:r>
            <a:r>
              <a:rPr lang="en-US" sz="1250" b="1" dirty="0">
                <a:solidFill>
                  <a:schemeClr val="bg1"/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НЕ построить прибыльную стратегию.</a:t>
            </a:r>
            <a:endParaRPr lang="en-US" sz="1250" dirty="0">
              <a:solidFill>
                <a:schemeClr val="bg1"/>
              </a:solidFill>
              <a:latin typeface="HSE Sans" panose="0200000000000000000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15254F8-AA4A-BE1F-A120-5D588D853B28}"/>
              </a:ext>
            </a:extLst>
          </p:cNvPr>
          <p:cNvSpPr txBox="1"/>
          <p:nvPr/>
        </p:nvSpPr>
        <p:spPr>
          <a:xfrm>
            <a:off x="552189" y="1640049"/>
            <a:ext cx="13441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1400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4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B73DD77-18C1-15EA-6736-3E5E980D770F}"/>
              </a:ext>
            </a:extLst>
          </p:cNvPr>
          <p:cNvSpPr txBox="1"/>
          <p:nvPr/>
        </p:nvSpPr>
        <p:spPr>
          <a:xfrm>
            <a:off x="7385004" y="1685615"/>
            <a:ext cx="13441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1400" b="1" dirty="0">
                <a:solidFill>
                  <a:schemeClr val="bg1"/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Цель</a:t>
            </a:r>
            <a:endParaRPr lang="en-US" sz="1400" dirty="0">
              <a:solidFill>
                <a:schemeClr val="bg1"/>
              </a:solidFill>
              <a:latin typeface="HSE Sans" panose="02000000000000000000"/>
            </a:endParaRPr>
          </a:p>
        </p:txBody>
      </p:sp>
      <p:sp>
        <p:nvSpPr>
          <p:cNvPr id="41" name="Shape 31">
            <a:extLst>
              <a:ext uri="{FF2B5EF4-FFF2-40B4-BE49-F238E27FC236}">
                <a16:creationId xmlns:a16="http://schemas.microsoft.com/office/drawing/2014/main" id="{3B17E398-3EEF-16F2-C8FC-ED4C7CE2E45F}"/>
              </a:ext>
            </a:extLst>
          </p:cNvPr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9525">
            <a:solidFill>
              <a:srgbClr val="DCE3EB"/>
            </a:solidFill>
            <a:prstDash val="solid"/>
          </a:ln>
        </p:spPr>
      </p:sp>
      <p:sp>
        <p:nvSpPr>
          <p:cNvPr id="42" name="Text 32">
            <a:extLst>
              <a:ext uri="{FF2B5EF4-FFF2-40B4-BE49-F238E27FC236}">
                <a16:creationId xmlns:a16="http://schemas.microsoft.com/office/drawing/2014/main" id="{8873F87A-95D1-3AE7-E860-10F615949786}"/>
              </a:ext>
            </a:extLst>
          </p:cNvPr>
          <p:cNvSpPr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Источники: [1] Малинецкий, Потапов · [2] Fama · [8] Hsieh · [10] Serletis, Shintani · [11] Inglada-Perez    |    Введение · разделы 1.1, 1.5</a:t>
            </a:r>
            <a:endParaRPr lang="en-US" sz="95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F7569680-792F-F91D-7B39-A67AB7970256}"/>
              </a:ext>
            </a:extLst>
          </p:cNvPr>
          <p:cNvSpPr/>
          <p:nvPr/>
        </p:nvSpPr>
        <p:spPr>
          <a:xfrm>
            <a:off x="502920" y="992124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Постановка задачи</a:t>
            </a:r>
            <a:endParaRPr lang="en-US" sz="20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2613851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4F45E-8697-9656-857A-B13818C27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0A839CEB-694A-784C-9798-5403E5FAEA75}"/>
              </a:ext>
            </a:extLst>
          </p:cNvPr>
          <p:cNvSpPr/>
          <p:nvPr/>
        </p:nvSpPr>
        <p:spPr>
          <a:xfrm>
            <a:off x="1036320" y="55763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Глава</a:t>
            </a:r>
            <a:r>
              <a:rPr lang="en-US" sz="1100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 2   |   </a:t>
            </a:r>
            <a:r>
              <a:rPr lang="en-US" sz="1100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Формирование признаков и торговое правило</a:t>
            </a:r>
            <a:endParaRPr lang="en-US" sz="11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12931C0-F163-2799-5692-880AAF57DDE7}"/>
              </a:ext>
            </a:extLst>
          </p:cNvPr>
          <p:cNvSpPr/>
          <p:nvPr/>
        </p:nvSpPr>
        <p:spPr>
          <a:xfrm>
            <a:off x="502920" y="163662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Вектор задержек</a:t>
            </a:r>
            <a:endParaRPr lang="en-US" sz="12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2C4FE73-193C-6A72-9985-764DB58DC0C7}"/>
              </a:ext>
            </a:extLst>
          </p:cNvPr>
          <p:cNvSpPr/>
          <p:nvPr/>
        </p:nvSpPr>
        <p:spPr>
          <a:xfrm>
            <a:off x="489204" y="2035764"/>
            <a:ext cx="5486400" cy="566928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B1235389-F68B-E675-1AD1-DBB018A51F1A}"/>
              </a:ext>
            </a:extLst>
          </p:cNvPr>
          <p:cNvSpPr/>
          <p:nvPr/>
        </p:nvSpPr>
        <p:spPr>
          <a:xfrm>
            <a:off x="626364" y="2035764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mbria Math" pitchFamily="34" charset="-122"/>
                <a:cs typeface="Cambria Math" pitchFamily="34" charset="-120"/>
              </a:rPr>
              <a:t>v[t] = (r[t], r[t−τ], …, r[t−(m−1)τ])</a:t>
            </a:r>
            <a:endParaRPr lang="en-US" sz="13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3580495C-9598-3AD5-40B0-7C72661828CE}"/>
              </a:ext>
            </a:extLst>
          </p:cNvPr>
          <p:cNvSpPr/>
          <p:nvPr/>
        </p:nvSpPr>
        <p:spPr>
          <a:xfrm>
            <a:off x="489204" y="27581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t-статистика кластера</a:t>
            </a:r>
            <a:endParaRPr lang="en-US" sz="12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D04ED51A-9BE2-33BF-F5A6-77E682FB933F}"/>
              </a:ext>
            </a:extLst>
          </p:cNvPr>
          <p:cNvSpPr/>
          <p:nvPr/>
        </p:nvSpPr>
        <p:spPr>
          <a:xfrm>
            <a:off x="489204" y="3059892"/>
            <a:ext cx="5486400" cy="566928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9A92B16B-4D8B-0DE6-63B8-07BC80B2F8A8}"/>
              </a:ext>
            </a:extLst>
          </p:cNvPr>
          <p:cNvSpPr/>
          <p:nvPr/>
        </p:nvSpPr>
        <p:spPr>
          <a:xfrm>
            <a:off x="626364" y="3059892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mbria Math" pitchFamily="34" charset="-122"/>
                <a:cs typeface="Cambria Math" pitchFamily="34" charset="-120"/>
              </a:rPr>
              <a:t>t̂ⱼ = μ̂ⱼ · √nⱼ ⁄ σ̂ⱼ</a:t>
            </a:r>
            <a:endParaRPr lang="en-US" sz="13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C5E6CE5-E65A-2669-3E7B-C86B18B5646E}"/>
              </a:ext>
            </a:extLst>
          </p:cNvPr>
          <p:cNvSpPr/>
          <p:nvPr/>
        </p:nvSpPr>
        <p:spPr>
          <a:xfrm>
            <a:off x="489204" y="37822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Правило сигнала</a:t>
            </a:r>
            <a:endParaRPr lang="en-US" sz="12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38" name="Shape 10">
            <a:extLst>
              <a:ext uri="{FF2B5EF4-FFF2-40B4-BE49-F238E27FC236}">
                <a16:creationId xmlns:a16="http://schemas.microsoft.com/office/drawing/2014/main" id="{689FF6B5-1FB7-9070-2522-1F5122F21CDD}"/>
              </a:ext>
            </a:extLst>
          </p:cNvPr>
          <p:cNvSpPr/>
          <p:nvPr/>
        </p:nvSpPr>
        <p:spPr>
          <a:xfrm>
            <a:off x="489204" y="4084020"/>
            <a:ext cx="5486400" cy="566928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1" name="Text 11">
            <a:extLst>
              <a:ext uri="{FF2B5EF4-FFF2-40B4-BE49-F238E27FC236}">
                <a16:creationId xmlns:a16="http://schemas.microsoft.com/office/drawing/2014/main" id="{E68F73B7-3FCE-E886-DE6B-DF359CAB6D3F}"/>
              </a:ext>
            </a:extLst>
          </p:cNvPr>
          <p:cNvSpPr/>
          <p:nvPr/>
        </p:nvSpPr>
        <p:spPr>
          <a:xfrm>
            <a:off x="626364" y="408402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mbria Math" pitchFamily="34" charset="-122"/>
                <a:cs typeface="Cambria Math" pitchFamily="34" charset="-120"/>
              </a:rPr>
              <a:t>long ⟺ nⱼ ≥ 30  и  |t̂ⱼ| ≥ 1.0  и  μ̂ⱼ &gt; 0</a:t>
            </a:r>
            <a:endParaRPr lang="en-US" sz="13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3B6F0D71-34E4-80E8-1148-AC59973F20FC}"/>
              </a:ext>
            </a:extLst>
          </p:cNvPr>
          <p:cNvSpPr/>
          <p:nvPr/>
        </p:nvSpPr>
        <p:spPr>
          <a:xfrm>
            <a:off x="489204" y="4888692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long только при статистически значимом положительном среднем будущей доходности кластера.</a:t>
            </a:r>
            <a:endParaRPr lang="en-US" sz="12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08CC2617-03B2-545D-E6C2-57C3AC11532F}"/>
              </a:ext>
            </a:extLst>
          </p:cNvPr>
          <p:cNvSpPr/>
          <p:nvPr/>
        </p:nvSpPr>
        <p:spPr>
          <a:xfrm>
            <a:off x="6263640" y="96686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Статистический паспорт кластеров (репрезентативное </a:t>
            </a:r>
            <a:r>
              <a:rPr lang="en-US" sz="1200" b="1" dirty="0" err="1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окно</a:t>
            </a:r>
            <a:r>
              <a:rPr lang="en-US" sz="1200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graphicFrame>
        <p:nvGraphicFramePr>
          <p:cNvPr id="44" name="Table 0">
            <a:extLst>
              <a:ext uri="{FF2B5EF4-FFF2-40B4-BE49-F238E27FC236}">
                <a16:creationId xmlns:a16="http://schemas.microsoft.com/office/drawing/2014/main" id="{6275B872-A76D-D621-6A13-031C7B7469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164743"/>
              </p:ext>
            </p:extLst>
          </p:nvPr>
        </p:nvGraphicFramePr>
        <p:xfrm>
          <a:off x="6263640" y="1273464"/>
          <a:ext cx="5394960" cy="22860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Кластер</a:t>
                      </a:r>
                      <a:endParaRPr lang="en-US" sz="1100" dirty="0"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nⱼ</a:t>
                      </a:r>
                      <a:endParaRPr lang="en-US" sz="1100" dirty="0"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μ̂ⱼ</a:t>
                      </a:r>
                      <a:endParaRPr lang="en-US" sz="1100" dirty="0"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t̂ⱼ</a:t>
                      </a:r>
                      <a:endParaRPr lang="en-US" sz="1100" dirty="0"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Тип</a:t>
                      </a:r>
                      <a:endParaRPr lang="en-US" sz="1100" dirty="0"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Сигнал</a:t>
                      </a:r>
                      <a:endParaRPr lang="en-US" sz="1100" dirty="0"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C0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0.0006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0.28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шум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cash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C1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998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0.0007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2.51</a:t>
                      </a:r>
                      <a:endParaRPr lang="en-US" sz="1100" dirty="0"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инф.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long</a:t>
                      </a:r>
                      <a:endParaRPr lang="en-US" sz="1100" dirty="0"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C2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0.0057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1.70</a:t>
                      </a:r>
                      <a:endParaRPr lang="en-US" sz="1100" dirty="0"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инф.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long</a:t>
                      </a:r>
                      <a:endParaRPr lang="en-US" sz="1100" dirty="0"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C3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−0.0005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−0.36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шум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C93"/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cash</a:t>
                      </a:r>
                      <a:endParaRPr lang="en-US" sz="1100" dirty="0"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7" name="Shape 16">
            <a:extLst>
              <a:ext uri="{FF2B5EF4-FFF2-40B4-BE49-F238E27FC236}">
                <a16:creationId xmlns:a16="http://schemas.microsoft.com/office/drawing/2014/main" id="{B1EEB3AE-2401-4423-A6D2-53FEC15B3593}"/>
              </a:ext>
            </a:extLst>
          </p:cNvPr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9525">
            <a:solidFill>
              <a:srgbClr val="DCE3EB"/>
            </a:solidFill>
            <a:prstDash val="solid"/>
          </a:ln>
        </p:spPr>
      </p:sp>
      <p:sp>
        <p:nvSpPr>
          <p:cNvPr id="48" name="Text 17">
            <a:extLst>
              <a:ext uri="{FF2B5EF4-FFF2-40B4-BE49-F238E27FC236}">
                <a16:creationId xmlns:a16="http://schemas.microsoft.com/office/drawing/2014/main" id="{D5ADEF49-E8E6-7DDE-7D1E-A70B6C899BCD}"/>
              </a:ext>
            </a:extLst>
          </p:cNvPr>
          <p:cNvSpPr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i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Источники: [16] Takens · [17] Sauer и др. · [1] Малинецкий, Потапов    |    разделы 2.2, 2.6 · </a:t>
            </a:r>
            <a:r>
              <a:rPr lang="en-US" sz="950" i="1" dirty="0" err="1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таблица</a:t>
            </a:r>
            <a:r>
              <a:rPr lang="en-US" sz="950" i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 3.2</a:t>
            </a:r>
            <a:r>
              <a:rPr lang="ru-RU" sz="950" i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i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·</a:t>
            </a:r>
            <a:r>
              <a:rPr lang="ru-RU" sz="950" i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 рисунок 3.3</a:t>
            </a:r>
            <a:endParaRPr lang="en-US" sz="95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49" name="Text 2">
            <a:extLst>
              <a:ext uri="{FF2B5EF4-FFF2-40B4-BE49-F238E27FC236}">
                <a16:creationId xmlns:a16="http://schemas.microsoft.com/office/drawing/2014/main" id="{925D2B3E-4F24-DA1C-102C-CAB5A60C764D}"/>
              </a:ext>
            </a:extLst>
          </p:cNvPr>
          <p:cNvSpPr/>
          <p:nvPr/>
        </p:nvSpPr>
        <p:spPr>
          <a:xfrm>
            <a:off x="502920" y="999144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Метод: от ряда доходностей к сигналу</a:t>
            </a:r>
            <a:endParaRPr lang="en-US" sz="20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BE08F1AC-ABA6-084C-8E0B-3841C22B15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716025"/>
            <a:ext cx="3101642" cy="2654867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A5EC9EB7-3704-60B8-655C-8188DEB4E085}"/>
              </a:ext>
            </a:extLst>
          </p:cNvPr>
          <p:cNvSpPr txBox="1"/>
          <p:nvPr/>
        </p:nvSpPr>
        <p:spPr>
          <a:xfrm>
            <a:off x="9655069" y="4906344"/>
            <a:ext cx="1898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200" dirty="0">
                <a:solidFill>
                  <a:schemeClr val="bg2">
                    <a:lumMod val="10000"/>
                  </a:schemeClr>
                </a:solidFill>
              </a:rPr>
              <a:t>состояния группируются в кластеры в пространстве</a:t>
            </a:r>
          </a:p>
        </p:txBody>
      </p:sp>
      <p:sp>
        <p:nvSpPr>
          <p:cNvPr id="56" name="Стрелка: вправо 55">
            <a:extLst>
              <a:ext uri="{FF2B5EF4-FFF2-40B4-BE49-F238E27FC236}">
                <a16:creationId xmlns:a16="http://schemas.microsoft.com/office/drawing/2014/main" id="{38B4F00A-F398-EFFD-5F0A-ED5506FD9B00}"/>
              </a:ext>
            </a:extLst>
          </p:cNvPr>
          <p:cNvSpPr/>
          <p:nvPr/>
        </p:nvSpPr>
        <p:spPr>
          <a:xfrm>
            <a:off x="9455200" y="5112446"/>
            <a:ext cx="199869" cy="113896"/>
          </a:xfrm>
          <a:prstGeom prst="rightArrow">
            <a:avLst/>
          </a:prstGeom>
          <a:solidFill>
            <a:schemeClr val="tx1">
              <a:lumMod val="50000"/>
            </a:schemeClr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015CD34-090B-AFC7-1CD3-89C9A560AD61}"/>
              </a:ext>
            </a:extLst>
          </p:cNvPr>
          <p:cNvSpPr txBox="1"/>
          <p:nvPr/>
        </p:nvSpPr>
        <p:spPr>
          <a:xfrm>
            <a:off x="10819649" y="971732"/>
            <a:ext cx="94937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Таблица 3.2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193963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42A56-30A1-F808-F29D-DFB441C23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C68777F2-C832-4C98-E944-E195C7DD6649}"/>
              </a:ext>
            </a:extLst>
          </p:cNvPr>
          <p:cNvSpPr/>
          <p:nvPr/>
        </p:nvSpPr>
        <p:spPr>
          <a:xfrm>
            <a:off x="1036320" y="55763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 err="1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Глава</a:t>
            </a:r>
            <a:r>
              <a:rPr lang="en-US" sz="1100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 2   | </a:t>
            </a:r>
            <a:r>
              <a:rPr lang="ru-RU" sz="110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Walk-forward и </a:t>
            </a:r>
            <a:r>
              <a:rPr lang="en-US" sz="1100" dirty="0" err="1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псевдо</a:t>
            </a:r>
            <a:r>
              <a:rPr lang="en-US" sz="1100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-out-of-sample </a:t>
            </a:r>
            <a:r>
              <a:rPr lang="en-US" sz="1100" dirty="0" err="1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серия</a:t>
            </a:r>
            <a:endParaRPr lang="en-US" sz="11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011C6C54-7FBC-031D-1A55-F4B7B5DDB53D}"/>
              </a:ext>
            </a:extLst>
          </p:cNvPr>
          <p:cNvSpPr/>
          <p:nvPr/>
        </p:nvSpPr>
        <p:spPr>
          <a:xfrm>
            <a:off x="502920" y="1698461"/>
            <a:ext cx="2743200" cy="731520"/>
          </a:xfrm>
          <a:prstGeom prst="roundRect">
            <a:avLst>
              <a:gd name="adj" fmla="val 5000"/>
            </a:avLst>
          </a:prstGeom>
          <a:solidFill>
            <a:srgbClr val="0F2C4C"/>
          </a:solidFill>
          <a:ln/>
        </p:spPr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A3656BC2-3F3D-2C4A-6ECD-330CF77DDB2B}"/>
              </a:ext>
            </a:extLst>
          </p:cNvPr>
          <p:cNvSpPr/>
          <p:nvPr/>
        </p:nvSpPr>
        <p:spPr>
          <a:xfrm>
            <a:off x="502920" y="1789901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TRAIN</a:t>
            </a:r>
            <a:endParaRPr lang="en-US" sz="1200" dirty="0">
              <a:solidFill>
                <a:schemeClr val="bg1"/>
              </a:solidFill>
              <a:latin typeface="HSE Sans" panose="0200000000000000000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2860065-1C28-0DF8-3DE8-1EA65028BF53}"/>
              </a:ext>
            </a:extLst>
          </p:cNvPr>
          <p:cNvSpPr/>
          <p:nvPr/>
        </p:nvSpPr>
        <p:spPr>
          <a:xfrm>
            <a:off x="502920" y="2082509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1260 дней</a:t>
            </a:r>
            <a:endParaRPr lang="en-US" sz="1000" dirty="0">
              <a:solidFill>
                <a:schemeClr val="bg1"/>
              </a:solidFill>
              <a:latin typeface="HSE Sans" panose="0200000000000000000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36F0E6A-29D6-F8FB-E3CD-BE15D4A1813B}"/>
              </a:ext>
            </a:extLst>
          </p:cNvPr>
          <p:cNvSpPr/>
          <p:nvPr/>
        </p:nvSpPr>
        <p:spPr>
          <a:xfrm>
            <a:off x="3337560" y="1698461"/>
            <a:ext cx="1005840" cy="731520"/>
          </a:xfrm>
          <a:prstGeom prst="roundRect">
            <a:avLst>
              <a:gd name="adj" fmla="val 5000"/>
            </a:avLst>
          </a:prstGeom>
          <a:solidFill>
            <a:srgbClr val="2E3D52"/>
          </a:solidFill>
          <a:ln/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593285E-9E26-40B4-D08B-92B9B958AE3E}"/>
              </a:ext>
            </a:extLst>
          </p:cNvPr>
          <p:cNvSpPr/>
          <p:nvPr/>
        </p:nvSpPr>
        <p:spPr>
          <a:xfrm>
            <a:off x="3337560" y="1789901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>
              <a:solidFill>
                <a:schemeClr val="bg1"/>
              </a:solidFill>
              <a:latin typeface="HSE Sans" panose="0200000000000000000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A5CEEE6-09A1-934B-6F86-528973CEEDAD}"/>
              </a:ext>
            </a:extLst>
          </p:cNvPr>
          <p:cNvSpPr/>
          <p:nvPr/>
        </p:nvSpPr>
        <p:spPr>
          <a:xfrm>
            <a:off x="3337560" y="2082509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252</a:t>
            </a:r>
            <a:endParaRPr lang="en-US" sz="1000" dirty="0">
              <a:solidFill>
                <a:schemeClr val="bg1"/>
              </a:solidFill>
              <a:latin typeface="HSE Sans" panose="02000000000000000000"/>
            </a:endParaRPr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1A2E13F3-9CB3-CD29-4A41-A9FC8990FC7D}"/>
              </a:ext>
            </a:extLst>
          </p:cNvPr>
          <p:cNvSpPr/>
          <p:nvPr/>
        </p:nvSpPr>
        <p:spPr>
          <a:xfrm>
            <a:off x="4434840" y="1698461"/>
            <a:ext cx="777240" cy="731520"/>
          </a:xfrm>
          <a:prstGeom prst="roundRect">
            <a:avLst>
              <a:gd name="adj" fmla="val 5000"/>
            </a:avLst>
          </a:prstGeom>
          <a:solidFill>
            <a:srgbClr val="2A9D8F"/>
          </a:solidFill>
          <a:ln/>
        </p:spPr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3439CF3A-5FC2-3096-B144-703906CF7CD2}"/>
              </a:ext>
            </a:extLst>
          </p:cNvPr>
          <p:cNvSpPr/>
          <p:nvPr/>
        </p:nvSpPr>
        <p:spPr>
          <a:xfrm>
            <a:off x="4434840" y="1789901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HOLDOUT</a:t>
            </a:r>
            <a:endParaRPr lang="en-US" sz="1200" dirty="0">
              <a:solidFill>
                <a:schemeClr val="bg1"/>
              </a:solidFill>
              <a:latin typeface="HSE Sans" panose="02000000000000000000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E1ECAC9-D01A-218F-8749-D670BF70D153}"/>
              </a:ext>
            </a:extLst>
          </p:cNvPr>
          <p:cNvSpPr/>
          <p:nvPr/>
        </p:nvSpPr>
        <p:spPr>
          <a:xfrm>
            <a:off x="4434840" y="2082509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63</a:t>
            </a:r>
            <a:endParaRPr lang="en-US" sz="1000" dirty="0">
              <a:solidFill>
                <a:schemeClr val="bg1"/>
              </a:solidFill>
              <a:latin typeface="HSE Sans" panose="02000000000000000000"/>
            </a:endParaRPr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28D17DF6-4E3C-6182-AB46-1DA92798575D}"/>
              </a:ext>
            </a:extLst>
          </p:cNvPr>
          <p:cNvSpPr/>
          <p:nvPr/>
        </p:nvSpPr>
        <p:spPr>
          <a:xfrm>
            <a:off x="5349240" y="1863053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→  сдвиг 63 дня, окно за окном</a:t>
            </a:r>
            <a:endParaRPr lang="en-US" sz="12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DC4006A2-3792-341B-4887-18075488CFA5}"/>
              </a:ext>
            </a:extLst>
          </p:cNvPr>
          <p:cNvSpPr/>
          <p:nvPr/>
        </p:nvSpPr>
        <p:spPr>
          <a:xfrm>
            <a:off x="8183880" y="1652741"/>
            <a:ext cx="3502152" cy="822960"/>
          </a:xfrm>
          <a:prstGeom prst="roundRect">
            <a:avLst>
              <a:gd name="adj" fmla="val 5556"/>
            </a:avLst>
          </a:prstGeom>
          <a:solidFill>
            <a:srgbClr val="F4F6F9"/>
          </a:solidFill>
          <a:ln/>
        </p:spPr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581787CB-B56F-7308-952C-7ECFF1E4AE46}"/>
              </a:ext>
            </a:extLst>
          </p:cNvPr>
          <p:cNvSpPr/>
          <p:nvPr/>
        </p:nvSpPr>
        <p:spPr>
          <a:xfrm>
            <a:off x="8321040" y="1716749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59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 окон   </a:t>
            </a: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3717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 дней</a:t>
            </a:r>
            <a:endParaRPr lang="en-US" sz="12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8DF93D57-C8F5-1C27-C464-70E1DB2E2588}"/>
              </a:ext>
            </a:extLst>
          </p:cNvPr>
          <p:cNvSpPr/>
          <p:nvPr/>
        </p:nvSpPr>
        <p:spPr>
          <a:xfrm>
            <a:off x="8321040" y="2109941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псевдо-OOS серия, 2011–2025</a:t>
            </a:r>
            <a:endParaRPr lang="en-US" sz="105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5B4AB5E0-F64F-9CDF-4BD1-C8FCA73048D9}"/>
              </a:ext>
            </a:extLst>
          </p:cNvPr>
          <p:cNvSpPr/>
          <p:nvPr/>
        </p:nvSpPr>
        <p:spPr>
          <a:xfrm>
            <a:off x="502920" y="2606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Три принципа защиты от завышения качества</a:t>
            </a:r>
            <a:endParaRPr lang="en-US" sz="14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8D0A066A-0C22-009C-EE0C-46CBC68E139F}"/>
              </a:ext>
            </a:extLst>
          </p:cNvPr>
          <p:cNvSpPr/>
          <p:nvPr/>
        </p:nvSpPr>
        <p:spPr>
          <a:xfrm>
            <a:off x="914400" y="302666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Изоляция выборок</a:t>
            </a:r>
            <a:endParaRPr lang="en-US" sz="14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F798A75E-1221-AE2C-34E6-D85D1F8D0F98}"/>
              </a:ext>
            </a:extLst>
          </p:cNvPr>
          <p:cNvSpPr/>
          <p:nvPr/>
        </p:nvSpPr>
        <p:spPr>
          <a:xfrm>
            <a:off x="914400" y="3355848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5000"/>
              </a:lnSpc>
              <a:buNone/>
            </a:pPr>
            <a:r>
              <a:rPr lang="en-US" sz="1150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Параметры подбираются только на validation; итоговое качество считается только на непересекающихся holdout-блоках. Случайное разбиение не используется — оно разрушает временную структуру.</a:t>
            </a:r>
            <a:endParaRPr lang="en-US" sz="115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BC49B0F7-8CDF-ADAE-52D1-FDA3EB42E00E}"/>
              </a:ext>
            </a:extLst>
          </p:cNvPr>
          <p:cNvSpPr/>
          <p:nvPr/>
        </p:nvSpPr>
        <p:spPr>
          <a:xfrm>
            <a:off x="914400" y="335584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раздел 2.5</a:t>
            </a:r>
            <a:endParaRPr lang="en-US" sz="10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14A45177-FC66-EE70-AE78-DB759858A2BB}"/>
              </a:ext>
            </a:extLst>
          </p:cNvPr>
          <p:cNvSpPr/>
          <p:nvPr/>
        </p:nvSpPr>
        <p:spPr>
          <a:xfrm>
            <a:off x="914400" y="41056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Защита от look-ahead</a:t>
            </a:r>
            <a:endParaRPr lang="en-US" sz="14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1C8519A4-9223-EBE2-4036-6F51377940AB}"/>
              </a:ext>
            </a:extLst>
          </p:cNvPr>
          <p:cNvSpPr/>
          <p:nvPr/>
        </p:nvSpPr>
        <p:spPr>
          <a:xfrm>
            <a:off x="914400" y="44348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5000"/>
              </a:lnSpc>
              <a:buNone/>
            </a:pPr>
            <a:r>
              <a:rPr lang="en-US" sz="1150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Целевая переменная y[t,h] построена так, что сделка исполняется по цене открытия следующего дня; учтены издержки 5 bps на сторону. Будущее не «протекает» в признаки.</a:t>
            </a:r>
            <a:endParaRPr lang="en-US" sz="115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62A2B6C1-FA39-CE0F-D6D7-5F7DE9DBACE8}"/>
              </a:ext>
            </a:extLst>
          </p:cNvPr>
          <p:cNvSpPr/>
          <p:nvPr/>
        </p:nvSpPr>
        <p:spPr>
          <a:xfrm>
            <a:off x="914400" y="44348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разделы 2.3.5, 2.6.7</a:t>
            </a:r>
            <a:endParaRPr lang="en-US" sz="10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A5727931-C1B7-3E3C-8243-A7CAB9163149}"/>
              </a:ext>
            </a:extLst>
          </p:cNvPr>
          <p:cNvSpPr/>
          <p:nvPr/>
        </p:nvSpPr>
        <p:spPr>
          <a:xfrm>
            <a:off x="914400" y="5184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40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Поправка</a:t>
            </a:r>
            <a:r>
              <a:rPr lang="en-US" sz="1400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40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400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40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множественное тестирование</a:t>
            </a:r>
            <a:endParaRPr lang="en-US" sz="14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2A8444C4-91F2-C61D-BC8A-7399AD88932E}"/>
              </a:ext>
            </a:extLst>
          </p:cNvPr>
          <p:cNvSpPr/>
          <p:nvPr/>
        </p:nvSpPr>
        <p:spPr>
          <a:xfrm>
            <a:off x="914400" y="551383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5000"/>
              </a:lnSpc>
              <a:buNone/>
            </a:pPr>
            <a:r>
              <a:rPr lang="en-US" sz="1150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На каждом окне перебирается 480 конфигураций (m, τ, k, h). Перебор раздувает Sharpe — документированная причина ложных открытий в алготрейдинге; требует Deflated Sharpe Ratio.</a:t>
            </a:r>
            <a:endParaRPr lang="en-US" sz="115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1645ACD1-8264-9718-4209-E04A36D3FF83}"/>
              </a:ext>
            </a:extLst>
          </p:cNvPr>
          <p:cNvSpPr/>
          <p:nvPr/>
        </p:nvSpPr>
        <p:spPr>
          <a:xfrm>
            <a:off x="914400" y="55138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[35], [36], [39]</a:t>
            </a:r>
            <a:endParaRPr lang="en-US" sz="1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5" name="Text 2">
            <a:extLst>
              <a:ext uri="{FF2B5EF4-FFF2-40B4-BE49-F238E27FC236}">
                <a16:creationId xmlns:a16="http://schemas.microsoft.com/office/drawing/2014/main" id="{F6863B60-8014-D3BE-F89C-CEF6D05DD136}"/>
              </a:ext>
            </a:extLst>
          </p:cNvPr>
          <p:cNvSpPr/>
          <p:nvPr/>
        </p:nvSpPr>
        <p:spPr>
          <a:xfrm>
            <a:off x="503620" y="1012661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00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</a:t>
            </a: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 строгой проверки</a:t>
            </a:r>
            <a:endParaRPr lang="en-US" sz="20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37" name="Text 30">
            <a:extLst>
              <a:ext uri="{FF2B5EF4-FFF2-40B4-BE49-F238E27FC236}">
                <a16:creationId xmlns:a16="http://schemas.microsoft.com/office/drawing/2014/main" id="{2AED84A9-12BC-5011-E928-ECDD06617984}"/>
              </a:ext>
            </a:extLst>
          </p:cNvPr>
          <p:cNvSpPr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Источники: [35] López de Prado · [36] Bailey, López de Prado · [39] Harvey, Liu    |    разделы 2.3, 2.5, 2.6.7</a:t>
            </a:r>
            <a:endParaRPr lang="en-US" sz="95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39" name="Shape 29">
            <a:extLst>
              <a:ext uri="{FF2B5EF4-FFF2-40B4-BE49-F238E27FC236}">
                <a16:creationId xmlns:a16="http://schemas.microsoft.com/office/drawing/2014/main" id="{1B53508A-F0AC-3C65-2510-66EABF733C53}"/>
              </a:ext>
            </a:extLst>
          </p:cNvPr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9525">
            <a:solidFill>
              <a:srgbClr val="DCE3EB"/>
            </a:solidFill>
            <a:prstDash val="solid"/>
          </a:ln>
        </p:spPr>
      </p:sp>
      <p:sp>
        <p:nvSpPr>
          <p:cNvPr id="40" name="Стрелка: вправо 39">
            <a:extLst>
              <a:ext uri="{FF2B5EF4-FFF2-40B4-BE49-F238E27FC236}">
                <a16:creationId xmlns:a16="http://schemas.microsoft.com/office/drawing/2014/main" id="{F64BA0BD-F847-B73E-769F-CFF8FF8B8823}"/>
              </a:ext>
            </a:extLst>
          </p:cNvPr>
          <p:cNvSpPr/>
          <p:nvPr/>
        </p:nvSpPr>
        <p:spPr>
          <a:xfrm>
            <a:off x="614597" y="3127248"/>
            <a:ext cx="199869" cy="113896"/>
          </a:xfrm>
          <a:prstGeom prst="rightArrow">
            <a:avLst/>
          </a:prstGeom>
          <a:solidFill>
            <a:schemeClr val="tx1">
              <a:lumMod val="50000"/>
            </a:schemeClr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7" name="Стрелка: вправо 46">
            <a:extLst>
              <a:ext uri="{FF2B5EF4-FFF2-40B4-BE49-F238E27FC236}">
                <a16:creationId xmlns:a16="http://schemas.microsoft.com/office/drawing/2014/main" id="{460C0D17-1256-1C38-07FC-D52090B8651C}"/>
              </a:ext>
            </a:extLst>
          </p:cNvPr>
          <p:cNvSpPr/>
          <p:nvPr/>
        </p:nvSpPr>
        <p:spPr>
          <a:xfrm>
            <a:off x="614597" y="4210408"/>
            <a:ext cx="199869" cy="113896"/>
          </a:xfrm>
          <a:prstGeom prst="rightArrow">
            <a:avLst/>
          </a:prstGeom>
          <a:solidFill>
            <a:schemeClr val="tx1">
              <a:lumMod val="50000"/>
            </a:schemeClr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8" name="Стрелка: вправо 47">
            <a:extLst>
              <a:ext uri="{FF2B5EF4-FFF2-40B4-BE49-F238E27FC236}">
                <a16:creationId xmlns:a16="http://schemas.microsoft.com/office/drawing/2014/main" id="{C722545C-7743-95E1-02C0-43F0EA2C2C60}"/>
              </a:ext>
            </a:extLst>
          </p:cNvPr>
          <p:cNvSpPr/>
          <p:nvPr/>
        </p:nvSpPr>
        <p:spPr>
          <a:xfrm>
            <a:off x="614597" y="5276896"/>
            <a:ext cx="199869" cy="113896"/>
          </a:xfrm>
          <a:prstGeom prst="rightArrow">
            <a:avLst/>
          </a:prstGeom>
          <a:solidFill>
            <a:schemeClr val="tx1">
              <a:lumMod val="50000"/>
            </a:schemeClr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860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34ED4-1807-B128-D804-20AE6EA0E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3F10BBE0-2C28-238D-1F1B-8BF6CFC9CB07}"/>
              </a:ext>
            </a:extLst>
          </p:cNvPr>
          <p:cNvSpPr/>
          <p:nvPr/>
        </p:nvSpPr>
        <p:spPr>
          <a:xfrm>
            <a:off x="1036320" y="55763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 err="1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Глава</a:t>
            </a:r>
            <a:r>
              <a:rPr lang="en-US" sz="1100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100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   | </a:t>
            </a:r>
            <a:r>
              <a:rPr lang="ru-RU" sz="110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кластерной структуры</a:t>
            </a:r>
            <a:endParaRPr lang="en-US" sz="11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2222971-658A-DAAA-8F32-D3174D225A28}"/>
              </a:ext>
            </a:extLst>
          </p:cNvPr>
          <p:cNvSpPr/>
          <p:nvPr/>
        </p:nvSpPr>
        <p:spPr>
          <a:xfrm>
            <a:off x="502920" y="1737360"/>
            <a:ext cx="5486400" cy="1234440"/>
          </a:xfrm>
          <a:prstGeom prst="roundRect">
            <a:avLst>
              <a:gd name="adj" fmla="val 3704"/>
            </a:avLst>
          </a:prstGeom>
          <a:solidFill>
            <a:srgbClr val="F4F6F9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F94BE72-0E88-2DD8-5A39-A4E002F4E9D0}"/>
              </a:ext>
            </a:extLst>
          </p:cNvPr>
          <p:cNvSpPr/>
          <p:nvPr/>
        </p:nvSpPr>
        <p:spPr>
          <a:xfrm>
            <a:off x="685800" y="18470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C1 — спокойный фон   </a:t>
            </a:r>
            <a:r>
              <a:rPr lang="en-US" sz="1100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n=998 · μ=0.065%/день · t=2.51</a:t>
            </a:r>
            <a:endParaRPr lang="en-US" sz="14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8E084374-0FF4-C887-E582-7032964D3D6A}"/>
              </a:ext>
            </a:extLst>
          </p:cNvPr>
          <p:cNvSpPr/>
          <p:nvPr/>
        </p:nvSpPr>
        <p:spPr>
          <a:xfrm>
            <a:off x="685800" y="2212848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Частое слабоположительное состояние — основной источник «long»-сигналов. Статистически очень значимо (t=2.51).</a:t>
            </a:r>
            <a:endParaRPr lang="en-US" sz="12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0C48DC6E-CAC8-E942-B895-5C1D2E11A95E}"/>
              </a:ext>
            </a:extLst>
          </p:cNvPr>
          <p:cNvSpPr/>
          <p:nvPr/>
        </p:nvSpPr>
        <p:spPr>
          <a:xfrm>
            <a:off x="502920" y="3063240"/>
            <a:ext cx="5486400" cy="1417320"/>
          </a:xfrm>
          <a:prstGeom prst="roundRect">
            <a:avLst>
              <a:gd name="adj" fmla="val 3226"/>
            </a:avLst>
          </a:prstGeom>
          <a:solidFill>
            <a:srgbClr val="F4F6F9"/>
          </a:solidFill>
          <a:ln/>
        </p:spPr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3C2E291D-23AA-90FA-DF80-8E6F8C201651}"/>
              </a:ext>
            </a:extLst>
          </p:cNvPr>
          <p:cNvSpPr/>
          <p:nvPr/>
        </p:nvSpPr>
        <p:spPr>
          <a:xfrm>
            <a:off x="685800" y="317296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C2 — разворот после падения   </a:t>
            </a:r>
            <a:r>
              <a:rPr lang="en-US" sz="1100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n=30 · μ=0.571%/день · t=1.70</a:t>
            </a:r>
            <a:endParaRPr lang="en-US" sz="14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DBEED633-2F8F-33FE-6988-717D48D721AC}"/>
              </a:ext>
            </a:extLst>
          </p:cNvPr>
          <p:cNvSpPr/>
          <p:nvPr/>
        </p:nvSpPr>
        <p:spPr>
          <a:xfrm>
            <a:off x="685800" y="353872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Редкое сильное состояние. Критерий reversal: старшие лаги &lt; 0 (падение) и недавний лаг &gt; старших (отскок). Экономически осмысленно — отскок после снижения.</a:t>
            </a:r>
            <a:endParaRPr lang="en-US" sz="12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195241F8-3C03-DA24-B7B0-3AE5CF4659EC}"/>
              </a:ext>
            </a:extLst>
          </p:cNvPr>
          <p:cNvSpPr/>
          <p:nvPr/>
        </p:nvSpPr>
        <p:spPr>
          <a:xfrm>
            <a:off x="502920" y="47091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64%</a:t>
            </a:r>
            <a:endParaRPr lang="en-US" sz="32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2ECB71DA-3D06-D53D-4CBB-1A7A027F18BF}"/>
              </a:ext>
            </a:extLst>
          </p:cNvPr>
          <p:cNvSpPr/>
          <p:nvPr/>
        </p:nvSpPr>
        <p:spPr>
          <a:xfrm>
            <a:off x="2114612" y="4677930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разворотное состояние воспроизводится в 38 из 59 walk-окон — структура устойчива, а не артефакт одного окна (раздел 3.2.4)</a:t>
            </a:r>
            <a:endParaRPr lang="en-US" sz="12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40" name="Text 2">
            <a:extLst>
              <a:ext uri="{FF2B5EF4-FFF2-40B4-BE49-F238E27FC236}">
                <a16:creationId xmlns:a16="http://schemas.microsoft.com/office/drawing/2014/main" id="{55DD2E77-A784-CCFD-684B-2D55D30CF4BE}"/>
              </a:ext>
            </a:extLst>
          </p:cNvPr>
          <p:cNvSpPr/>
          <p:nvPr/>
        </p:nvSpPr>
        <p:spPr>
          <a:xfrm>
            <a:off x="573124" y="1010337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Метод выделяет интерпретируемые состояния</a:t>
            </a:r>
            <a:endParaRPr lang="en-US" sz="20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41" name="Shape 13">
            <a:extLst>
              <a:ext uri="{FF2B5EF4-FFF2-40B4-BE49-F238E27FC236}">
                <a16:creationId xmlns:a16="http://schemas.microsoft.com/office/drawing/2014/main" id="{0DE1193B-799A-6F47-3FB3-A15F2A052C5F}"/>
              </a:ext>
            </a:extLst>
          </p:cNvPr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9525">
            <a:solidFill>
              <a:srgbClr val="DCE3EB"/>
            </a:solidFill>
            <a:prstDash val="solid"/>
          </a:ln>
        </p:spPr>
      </p:sp>
      <p:sp>
        <p:nvSpPr>
          <p:cNvPr id="44" name="Text 14">
            <a:extLst>
              <a:ext uri="{FF2B5EF4-FFF2-40B4-BE49-F238E27FC236}">
                <a16:creationId xmlns:a16="http://schemas.microsoft.com/office/drawing/2014/main" id="{C68F6638-3E79-3B01-3768-B9655F447A47}"/>
              </a:ext>
            </a:extLst>
          </p:cNvPr>
          <p:cNvSpPr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Источники: [1] Малинецкий, Потапов · [40] Lloyd · [41] Arthur и др.    |    раздел 3.2 · таблица 3.2 · рисунок 3.4</a:t>
            </a:r>
            <a:endParaRPr lang="en-US" sz="95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71CE731F-182A-8D23-05A5-380779947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360" y="1478091"/>
            <a:ext cx="5443884" cy="338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156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EF1F1-72EA-2D9C-8B00-6ED717969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846BCFB4-A20B-DAB2-9978-AB74C6B6AE55}"/>
              </a:ext>
            </a:extLst>
          </p:cNvPr>
          <p:cNvSpPr/>
          <p:nvPr/>
        </p:nvSpPr>
        <p:spPr>
          <a:xfrm>
            <a:off x="1036320" y="55763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 err="1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Глава</a:t>
            </a:r>
            <a:r>
              <a:rPr lang="en-US" sz="1100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100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   | </a:t>
            </a:r>
            <a:r>
              <a:rPr lang="en-US" sz="1100" dirty="0" err="1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Результаты</a:t>
            </a:r>
            <a:r>
              <a:rPr lang="en-US" sz="1100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стратегии</a:t>
            </a:r>
            <a:r>
              <a:rPr lang="en-US" sz="1100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100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 pseudo-OOS</a:t>
            </a:r>
            <a:endParaRPr lang="en-US" sz="11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graphicFrame>
        <p:nvGraphicFramePr>
          <p:cNvPr id="2" name="Table 0">
            <a:extLst>
              <a:ext uri="{FF2B5EF4-FFF2-40B4-BE49-F238E27FC236}">
                <a16:creationId xmlns:a16="http://schemas.microsoft.com/office/drawing/2014/main" id="{72DCF718-1458-D0ED-DBF2-8029ED0C52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4293165"/>
              </p:ext>
            </p:extLst>
          </p:nvPr>
        </p:nvGraphicFramePr>
        <p:xfrm>
          <a:off x="467943" y="1499466"/>
          <a:ext cx="5628057" cy="3277400"/>
        </p:xfrm>
        <a:graphic>
          <a:graphicData uri="http://schemas.openxmlformats.org/drawingml/2006/table">
            <a:tbl>
              <a:tblPr/>
              <a:tblGrid>
                <a:gridCol w="1991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21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7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56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96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Метрика</a:t>
                      </a:r>
                      <a:endParaRPr lang="en-US" sz="1100" dirty="0"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Стратегия</a:t>
                      </a:r>
                      <a:endParaRPr lang="en-US" sz="1100" dirty="0"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Buy-and-Hold</a:t>
                      </a:r>
                      <a:endParaRPr lang="en-US" sz="1100" dirty="0"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Momentum</a:t>
                      </a:r>
                      <a:endParaRPr lang="en-US" sz="1100" dirty="0"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6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Annualized Sharpe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44E52"/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0.179</a:t>
                      </a:r>
                      <a:endParaRPr lang="en-US" sz="1100" dirty="0"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0.780</a:t>
                      </a:r>
                      <a:endParaRPr lang="en-US" sz="1100" dirty="0"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C93"/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−0.249</a:t>
                      </a:r>
                      <a:endParaRPr lang="en-US" sz="1100" dirty="0"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6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CAGR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44E52"/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2.08 %</a:t>
                      </a:r>
                      <a:endParaRPr lang="en-US" sz="1100" dirty="0"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9D8F"/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13.90 %</a:t>
                      </a:r>
                      <a:endParaRPr lang="en-US" sz="1100" dirty="0"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C93"/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−2.69 %</a:t>
                      </a:r>
                      <a:endParaRPr lang="en-US" sz="1100" dirty="0"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6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Annualized volatility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11.51 %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16.68 %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10.94 %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6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Max Drawdown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30.58 %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32.05 %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41.68 %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6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Calmar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44E52"/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0.068</a:t>
                      </a:r>
                      <a:endParaRPr lang="en-US" sz="1100" dirty="0"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9D8F"/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0.434</a:t>
                      </a:r>
                      <a:endParaRPr lang="en-US" sz="1100" dirty="0"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C93"/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−0.064</a:t>
                      </a:r>
                      <a:endParaRPr lang="en-US" sz="1100" dirty="0"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96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Число сделок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533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919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96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Exposure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39.1 %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56.2 %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Shape 3">
            <a:extLst>
              <a:ext uri="{FF2B5EF4-FFF2-40B4-BE49-F238E27FC236}">
                <a16:creationId xmlns:a16="http://schemas.microsoft.com/office/drawing/2014/main" id="{155B71CF-68C6-4EDC-AA8C-D2F0071A8422}"/>
              </a:ext>
            </a:extLst>
          </p:cNvPr>
          <p:cNvSpPr/>
          <p:nvPr/>
        </p:nvSpPr>
        <p:spPr>
          <a:xfrm>
            <a:off x="412979" y="4965917"/>
            <a:ext cx="5943600" cy="11430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/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74C09AB-4857-15BB-91F1-70991A9BE9F2}"/>
              </a:ext>
            </a:extLst>
          </p:cNvPr>
          <p:cNvSpPr/>
          <p:nvPr/>
        </p:nvSpPr>
        <p:spPr>
          <a:xfrm>
            <a:off x="595859" y="504015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Причина — структурная</a:t>
            </a:r>
            <a:endParaRPr lang="en-US" sz="14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E499C19-1137-0136-9464-749CBC7A8CF1}"/>
              </a:ext>
            </a:extLst>
          </p:cNvPr>
          <p:cNvSpPr/>
          <p:nvPr/>
        </p:nvSpPr>
        <p:spPr>
          <a:xfrm>
            <a:off x="595859" y="5396771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5000"/>
              </a:lnSpc>
              <a:buNone/>
            </a:pPr>
            <a:r>
              <a:rPr lang="en-US" sz="1150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Проигрыш по всем доходностным метрикам. Стратегия в рынке лишь 39 % времени, а период был сильно растущим (B&amp;H ×6.9). Низкое присутствие систематически пропускает рост.</a:t>
            </a:r>
            <a:endParaRPr lang="en-US" sz="115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399632F2-FA73-974F-DBB9-40AB6E02026D}"/>
              </a:ext>
            </a:extLst>
          </p:cNvPr>
          <p:cNvSpPr/>
          <p:nvPr/>
        </p:nvSpPr>
        <p:spPr>
          <a:xfrm>
            <a:off x="467943" y="91530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Стратегия проигрывает рынку</a:t>
            </a:r>
            <a:endParaRPr lang="en-US" sz="20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2D673860-8208-030D-562C-CDD047D1A836}"/>
              </a:ext>
            </a:extLst>
          </p:cNvPr>
          <p:cNvSpPr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[38] Sharpe    |    раздел 3.3 · таблица 3.3 · рисунок 3.5</a:t>
            </a:r>
            <a:endParaRPr lang="en-US" sz="95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C191F9D6-FC6E-E1AC-171F-CB8E0FA69BF8}"/>
              </a:ext>
            </a:extLst>
          </p:cNvPr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9525">
            <a:solidFill>
              <a:srgbClr val="DCE3EB"/>
            </a:solidFill>
            <a:prstDash val="solid"/>
          </a:ln>
        </p:spPr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F1045224-0EFF-085C-B2F3-6CD676C62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354" y="1370314"/>
            <a:ext cx="5587833" cy="368923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E4E6FC8-3468-0EB3-5A1F-A85C00F9C13E}"/>
              </a:ext>
            </a:extLst>
          </p:cNvPr>
          <p:cNvSpPr txBox="1"/>
          <p:nvPr/>
        </p:nvSpPr>
        <p:spPr>
          <a:xfrm>
            <a:off x="5258299" y="1219569"/>
            <a:ext cx="94937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Таблица 3.3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2953458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D1625-BCCD-9ACB-3403-43E14EEDE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79BDC9C4-1B5D-6E5A-D780-5CD725FBAD48}"/>
              </a:ext>
            </a:extLst>
          </p:cNvPr>
          <p:cNvSpPr/>
          <p:nvPr/>
        </p:nvSpPr>
        <p:spPr>
          <a:xfrm>
            <a:off x="1036320" y="55763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 err="1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Глава</a:t>
            </a:r>
            <a:r>
              <a:rPr lang="en-US" sz="1100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100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   | </a:t>
            </a:r>
            <a:r>
              <a:rPr lang="en-US" sz="1100" dirty="0" err="1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Анализ</a:t>
            </a:r>
            <a:r>
              <a:rPr lang="en-US" sz="1100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устойчивости</a:t>
            </a:r>
            <a:r>
              <a:rPr lang="en-US" sz="1100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1100" dirty="0" err="1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множественная</a:t>
            </a:r>
            <a:r>
              <a:rPr lang="en-US" sz="1100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проверка</a:t>
            </a:r>
            <a:endParaRPr lang="en-US" sz="11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C6C6E77D-6C37-9E68-FC10-59A819CBE0F3}"/>
              </a:ext>
            </a:extLst>
          </p:cNvPr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9525">
            <a:solidFill>
              <a:srgbClr val="DCE3EB"/>
            </a:solidFill>
            <a:prstDash val="solid"/>
          </a:ln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B5A8C30-1290-31FB-4647-8725C64086A0}"/>
              </a:ext>
            </a:extLst>
          </p:cNvPr>
          <p:cNvSpPr/>
          <p:nvPr/>
        </p:nvSpPr>
        <p:spPr>
          <a:xfrm>
            <a:off x="467943" y="923544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00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</a:t>
            </a:r>
            <a:r>
              <a:rPr lang="en-US" sz="2000" b="1" dirty="0" err="1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езависимые</a:t>
            </a: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 проверки результата</a:t>
            </a:r>
            <a:endParaRPr lang="en-US" sz="20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814B061-CA15-1C6D-89BC-66821B7AE1ED}"/>
              </a:ext>
            </a:extLst>
          </p:cNvPr>
          <p:cNvSpPr/>
          <p:nvPr/>
        </p:nvSpPr>
        <p:spPr>
          <a:xfrm>
            <a:off x="502920" y="151318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Альтернативные алгоритмы (3.4.2)</a:t>
            </a:r>
            <a:endParaRPr lang="en-US" sz="12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7331C057-3BA0-E459-68DA-C50CDCDEF7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893604"/>
              </p:ext>
            </p:extLst>
          </p:nvPr>
        </p:nvGraphicFramePr>
        <p:xfrm>
          <a:off x="502920" y="1856232"/>
          <a:ext cx="5394960" cy="19202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Алгоритм</a:t>
                      </a:r>
                      <a:endParaRPr lang="en-US" sz="1100" dirty="0"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1100" dirty="0"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CAGR</a:t>
                      </a:r>
                      <a:endParaRPr lang="en-US" sz="1100" dirty="0"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MaxDD</a:t>
                      </a:r>
                      <a:endParaRPr lang="en-US" sz="1100" dirty="0"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k-means (базовый)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0.179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2.08 %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30.6 %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z-std k-means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0.063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0.70 %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38.4 %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GMM (диаг.)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0.103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1.12 %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31.9 %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Buy-and-Hold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0.780</a:t>
                      </a:r>
                      <a:endParaRPr lang="en-US" sz="1100" dirty="0"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9D8F"/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13.9 %</a:t>
                      </a:r>
                      <a:endParaRPr lang="en-US" sz="1100" dirty="0"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32.1 %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4">
            <a:extLst>
              <a:ext uri="{FF2B5EF4-FFF2-40B4-BE49-F238E27FC236}">
                <a16:creationId xmlns:a16="http://schemas.microsoft.com/office/drawing/2014/main" id="{6FD00C25-EB4E-0BC1-DE4B-58184EFB4DB7}"/>
              </a:ext>
            </a:extLst>
          </p:cNvPr>
          <p:cNvSpPr/>
          <p:nvPr/>
        </p:nvSpPr>
        <p:spPr>
          <a:xfrm>
            <a:off x="502920" y="39776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Робастность по подпериодам (3.4.3)</a:t>
            </a:r>
            <a:endParaRPr lang="en-US" sz="12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graphicFrame>
        <p:nvGraphicFramePr>
          <p:cNvPr id="13" name="Table 1">
            <a:extLst>
              <a:ext uri="{FF2B5EF4-FFF2-40B4-BE49-F238E27FC236}">
                <a16:creationId xmlns:a16="http://schemas.microsoft.com/office/drawing/2014/main" id="{26673D52-CEBB-80EF-8421-24809867B6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7671651"/>
              </p:ext>
            </p:extLst>
          </p:nvPr>
        </p:nvGraphicFramePr>
        <p:xfrm>
          <a:off x="502920" y="4297680"/>
          <a:ext cx="5394960" cy="16459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Подпериод</a:t>
                      </a:r>
                      <a:endParaRPr lang="en-US" sz="1100" dirty="0"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Sharpe страт.</a:t>
                      </a:r>
                      <a:endParaRPr lang="en-US" sz="1100" dirty="0"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Sharpe B&amp;H</a:t>
                      </a:r>
                      <a:endParaRPr lang="en-US" sz="1100" dirty="0"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2011–2014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0.04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2015–2018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0.48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2019–2021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0.13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1.17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2022–2025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0.32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SE Sans" panose="02000000000000000000"/>
                          <a:ea typeface="Calibri" pitchFamily="34" charset="-122"/>
                          <a:cs typeface="Calibri" pitchFamily="34" charset="-120"/>
                        </a:rPr>
                        <a:t>0.56</a:t>
                      </a:r>
                      <a:endParaRPr lang="en-US" sz="1100" dirty="0">
                        <a:solidFill>
                          <a:schemeClr val="bg2">
                            <a:lumMod val="10000"/>
                          </a:schemeClr>
                        </a:solidFill>
                        <a:latin typeface="HSE Sans" panose="0200000000000000000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 5">
            <a:extLst>
              <a:ext uri="{FF2B5EF4-FFF2-40B4-BE49-F238E27FC236}">
                <a16:creationId xmlns:a16="http://schemas.microsoft.com/office/drawing/2014/main" id="{CD773CCD-7420-1A2B-C6D2-E68DCCF6D170}"/>
              </a:ext>
            </a:extLst>
          </p:cNvPr>
          <p:cNvSpPr/>
          <p:nvPr/>
        </p:nvSpPr>
        <p:spPr>
          <a:xfrm>
            <a:off x="502920" y="60807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во всех четырёх подпериодах стратегия уступает B&amp;H</a:t>
            </a:r>
            <a:endParaRPr lang="en-US" sz="11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800CA0C6-0E90-BE6C-0180-845E88D57040}"/>
              </a:ext>
            </a:extLst>
          </p:cNvPr>
          <p:cNvSpPr/>
          <p:nvPr/>
        </p:nvSpPr>
        <p:spPr>
          <a:xfrm>
            <a:off x="6291072" y="1737360"/>
            <a:ext cx="5394960" cy="1664208"/>
          </a:xfrm>
          <a:prstGeom prst="roundRect">
            <a:avLst>
              <a:gd name="adj" fmla="val 2564"/>
            </a:avLst>
          </a:prstGeom>
          <a:solidFill>
            <a:srgbClr val="F4F6F9"/>
          </a:solidFill>
          <a:ln/>
          <a:effectLst>
            <a:outerShdw blurRad="635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94C992B5-9054-A516-FEC9-21DD6316C81D}"/>
              </a:ext>
            </a:extLst>
          </p:cNvPr>
          <p:cNvSpPr/>
          <p:nvPr/>
        </p:nvSpPr>
        <p:spPr>
          <a:xfrm>
            <a:off x="6446520" y="19202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DSR = 0.0092</a:t>
            </a:r>
            <a:endParaRPr lang="en-US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6A53E79A-5B2B-AFEB-643B-A3AD8A3734A0}"/>
              </a:ext>
            </a:extLst>
          </p:cNvPr>
          <p:cNvSpPr/>
          <p:nvPr/>
        </p:nvSpPr>
        <p:spPr>
          <a:xfrm>
            <a:off x="6446520" y="2514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Deflated Sharpe Ratio (3.4.4)</a:t>
            </a:r>
            <a:endParaRPr lang="en-US" sz="12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A38101C6-706F-E536-2711-22ED75690545}"/>
              </a:ext>
            </a:extLst>
          </p:cNvPr>
          <p:cNvSpPr/>
          <p:nvPr/>
        </p:nvSpPr>
        <p:spPr>
          <a:xfrm>
            <a:off x="6446520" y="281635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5000"/>
              </a:lnSpc>
              <a:buNone/>
            </a:pPr>
            <a:r>
              <a:rPr lang="en-US" sz="1150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Поправка Sharpe на отбор лучшей из 480 конфигураций и тяжёлые хвосты (skew −1.7, kurt 30.9). Скорректированный Sharpe неотличим от нуля.</a:t>
            </a:r>
            <a:endParaRPr lang="en-US" sz="115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E28A0780-6C15-0FA1-01BE-5CB28263418D}"/>
              </a:ext>
            </a:extLst>
          </p:cNvPr>
          <p:cNvSpPr/>
          <p:nvPr/>
        </p:nvSpPr>
        <p:spPr>
          <a:xfrm>
            <a:off x="6263640" y="3703320"/>
            <a:ext cx="5394960" cy="1645920"/>
          </a:xfrm>
          <a:prstGeom prst="roundRect">
            <a:avLst>
              <a:gd name="adj" fmla="val 2564"/>
            </a:avLst>
          </a:prstGeom>
          <a:solidFill>
            <a:srgbClr val="F4F6F9"/>
          </a:solidFill>
          <a:ln/>
          <a:effectLst>
            <a:outerShdw blurRad="635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2694321E-95C8-39E4-FA2E-358E7A9D1575}"/>
              </a:ext>
            </a:extLst>
          </p:cNvPr>
          <p:cNvSpPr/>
          <p:nvPr/>
        </p:nvSpPr>
        <p:spPr>
          <a:xfrm>
            <a:off x="6446520" y="38404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p = 0.306</a:t>
            </a:r>
            <a:endParaRPr lang="en-US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94A746F5-A35C-F868-D4F2-27D8666F6294}"/>
              </a:ext>
            </a:extLst>
          </p:cNvPr>
          <p:cNvSpPr/>
          <p:nvPr/>
        </p:nvSpPr>
        <p:spPr>
          <a:xfrm>
            <a:off x="6446520" y="4434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Permutation-тест (3.4.5)</a:t>
            </a:r>
            <a:endParaRPr lang="en-US" sz="12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41C567C4-6111-BFF7-3564-3A28821E7A3A}"/>
              </a:ext>
            </a:extLst>
          </p:cNvPr>
          <p:cNvSpPr/>
          <p:nvPr/>
        </p:nvSpPr>
        <p:spPr>
          <a:xfrm>
            <a:off x="6446520" y="473659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5000"/>
              </a:lnSpc>
              <a:buNone/>
            </a:pPr>
            <a:r>
              <a:rPr lang="en-US" sz="1150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Реальный Sharpe на 69-м перцентиле 1000 случайных стратегий с тем же числом сделок и распределением горизонтов. Неотличим от случайной торговли.</a:t>
            </a:r>
            <a:endParaRPr lang="en-US" sz="115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26" name="Shape 14">
            <a:extLst>
              <a:ext uri="{FF2B5EF4-FFF2-40B4-BE49-F238E27FC236}">
                <a16:creationId xmlns:a16="http://schemas.microsoft.com/office/drawing/2014/main" id="{81AE2CE6-1740-1A62-6886-71163E50013F}"/>
              </a:ext>
            </a:extLst>
          </p:cNvPr>
          <p:cNvSpPr/>
          <p:nvPr/>
        </p:nvSpPr>
        <p:spPr>
          <a:xfrm>
            <a:off x="6263640" y="5577840"/>
            <a:ext cx="5394960" cy="777240"/>
          </a:xfrm>
          <a:prstGeom prst="roundRect">
            <a:avLst>
              <a:gd name="adj" fmla="val 5882"/>
            </a:avLst>
          </a:prstGeom>
          <a:solidFill>
            <a:srgbClr val="0F2C4C"/>
          </a:solidFill>
          <a:ln/>
        </p:spPr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13B20D6D-161F-4423-584A-14AF2C57B3B6}"/>
              </a:ext>
            </a:extLst>
          </p:cNvPr>
          <p:cNvSpPr/>
          <p:nvPr/>
        </p:nvSpPr>
        <p:spPr>
          <a:xfrm>
            <a:off x="6446520" y="565099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0A82E"/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Анализ падений (3.4.3a):  </a:t>
            </a:r>
            <a:r>
              <a:rPr lang="en-US" sz="1100" dirty="0">
                <a:solidFill>
                  <a:srgbClr val="FFFFFF"/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на медленных просадках +9…16 пп к B&amp;H, но на быстром обвале COVID −7.4 пп. Защита структурна (exposure), не предиктивна.</a:t>
            </a:r>
            <a:endParaRPr lang="en-US" sz="1100" dirty="0">
              <a:latin typeface="HSE Sans" panose="02000000000000000000"/>
            </a:endParaRPr>
          </a:p>
        </p:txBody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CEEB18AF-0EEF-B075-E75B-7EF746D19481}"/>
              </a:ext>
            </a:extLst>
          </p:cNvPr>
          <p:cNvSpPr/>
          <p:nvPr/>
        </p:nvSpPr>
        <p:spPr>
          <a:xfrm>
            <a:off x="502920" y="6515723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Источники: [36] Bailey, López de Prado · [39] Harvey, Liu    |    разделы 3.4.1–3.4.5 · таблицы 3.4–3.7 · рисунки 3.8–3.9</a:t>
            </a:r>
            <a:endParaRPr lang="en-US" sz="95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2C3FD4-8873-A06A-2737-D0ABD0C29C47}"/>
              </a:ext>
            </a:extLst>
          </p:cNvPr>
          <p:cNvSpPr txBox="1"/>
          <p:nvPr/>
        </p:nvSpPr>
        <p:spPr>
          <a:xfrm>
            <a:off x="5023453" y="1603616"/>
            <a:ext cx="94937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Таблица 3.4</a:t>
            </a:r>
            <a:endParaRPr lang="ru-RU" sz="11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B35E766-3769-DB22-03B2-7A6365E93DA1}"/>
              </a:ext>
            </a:extLst>
          </p:cNvPr>
          <p:cNvSpPr txBox="1"/>
          <p:nvPr/>
        </p:nvSpPr>
        <p:spPr>
          <a:xfrm>
            <a:off x="4995097" y="4032581"/>
            <a:ext cx="10060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Таблица 3.5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2544333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21F93-6EAD-5008-D509-706611A11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235D0D23-DC1A-E48A-D5C3-DA9BECB3B2A3}"/>
              </a:ext>
            </a:extLst>
          </p:cNvPr>
          <p:cNvSpPr/>
          <p:nvPr/>
        </p:nvSpPr>
        <p:spPr>
          <a:xfrm>
            <a:off x="1036320" y="55763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100" b="1" dirty="0">
                <a:solidFill>
                  <a:srgbClr val="0F2C4C"/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Заключение</a:t>
            </a:r>
            <a:endParaRPr lang="en-US" sz="1100" dirty="0">
              <a:latin typeface="HSE Sans" panose="02000000000000000000"/>
            </a:endParaRPr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0C011482-2E91-8277-DEEC-956C5660C03F}"/>
              </a:ext>
            </a:extLst>
          </p:cNvPr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9525">
            <a:solidFill>
              <a:srgbClr val="DCE3EB"/>
            </a:solidFill>
            <a:prstDash val="solid"/>
          </a:ln>
        </p:spPr>
      </p:sp>
      <p:sp>
        <p:nvSpPr>
          <p:cNvPr id="27" name="Text 2">
            <a:extLst>
              <a:ext uri="{FF2B5EF4-FFF2-40B4-BE49-F238E27FC236}">
                <a16:creationId xmlns:a16="http://schemas.microsoft.com/office/drawing/2014/main" id="{363415DD-16C9-E032-B564-D76B4BC8B3C8}"/>
              </a:ext>
            </a:extLst>
          </p:cNvPr>
          <p:cNvSpPr/>
          <p:nvPr/>
        </p:nvSpPr>
        <p:spPr>
          <a:xfrm>
            <a:off x="500622" y="987701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000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Вывод</a:t>
            </a:r>
            <a:endParaRPr lang="en-US" sz="20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7BF0765C-A35C-FEDE-8869-DE42DE774101}"/>
              </a:ext>
            </a:extLst>
          </p:cNvPr>
          <p:cNvSpPr/>
          <p:nvPr/>
        </p:nvSpPr>
        <p:spPr>
          <a:xfrm>
            <a:off x="459948" y="1543113"/>
            <a:ext cx="11155680" cy="59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Метод выделяет реальную, но слабую структуру — без реализуемой предсказательной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силы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 </a:t>
            </a:r>
            <a:r>
              <a:rPr lang="ru-RU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тесте</a:t>
            </a:r>
            <a:endParaRPr lang="en-US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30" name="Shape 5">
            <a:extLst>
              <a:ext uri="{FF2B5EF4-FFF2-40B4-BE49-F238E27FC236}">
                <a16:creationId xmlns:a16="http://schemas.microsoft.com/office/drawing/2014/main" id="{AAC8893D-6381-8146-FCAF-356FA8723E08}"/>
              </a:ext>
            </a:extLst>
          </p:cNvPr>
          <p:cNvSpPr/>
          <p:nvPr/>
        </p:nvSpPr>
        <p:spPr>
          <a:xfrm>
            <a:off x="432966" y="2178545"/>
            <a:ext cx="3383280" cy="1371600"/>
          </a:xfrm>
          <a:prstGeom prst="roundRect">
            <a:avLst>
              <a:gd name="adj" fmla="val 3333"/>
            </a:avLst>
          </a:prstGeom>
          <a:solidFill>
            <a:srgbClr val="16243B"/>
          </a:solidFill>
          <a:ln w="12700">
            <a:solidFill>
              <a:srgbClr val="33475B"/>
            </a:solidFill>
            <a:prstDash val="solid"/>
          </a:ln>
        </p:spPr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85243E55-DC32-6917-A06A-2720C1196C9D}"/>
              </a:ext>
            </a:extLst>
          </p:cNvPr>
          <p:cNvSpPr/>
          <p:nvPr/>
        </p:nvSpPr>
        <p:spPr>
          <a:xfrm>
            <a:off x="615846" y="2315705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A82E"/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>
              <a:latin typeface="HSE Sans" panose="02000000000000000000"/>
            </a:endParaRPr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16D8D340-2FFE-DFA8-F03E-3D7AB1529A9D}"/>
              </a:ext>
            </a:extLst>
          </p:cNvPr>
          <p:cNvSpPr/>
          <p:nvPr/>
        </p:nvSpPr>
        <p:spPr>
          <a:xfrm>
            <a:off x="615846" y="2772905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Проигрыш Buy-and-Hold</a:t>
            </a:r>
            <a:endParaRPr lang="en-US" sz="1400" dirty="0">
              <a:latin typeface="HSE Sans" panose="02000000000000000000"/>
            </a:endParaRPr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1CD12846-4467-26C7-B9A4-0EA88999ED13}"/>
              </a:ext>
            </a:extLst>
          </p:cNvPr>
          <p:cNvSpPr/>
          <p:nvPr/>
        </p:nvSpPr>
        <p:spPr>
          <a:xfrm>
            <a:off x="615846" y="3092945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BCD0"/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по всем доходностным метрикам</a:t>
            </a:r>
            <a:endParaRPr lang="en-US" sz="1100" dirty="0">
              <a:latin typeface="HSE Sans" panose="02000000000000000000"/>
            </a:endParaRPr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DD6AA487-C6A0-5A6A-F111-7B9BCF7D3822}"/>
              </a:ext>
            </a:extLst>
          </p:cNvPr>
          <p:cNvSpPr/>
          <p:nvPr/>
        </p:nvSpPr>
        <p:spPr>
          <a:xfrm>
            <a:off x="615846" y="3294113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E8FA6"/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раздел 3.3</a:t>
            </a:r>
            <a:endParaRPr lang="en-US" sz="950" dirty="0">
              <a:latin typeface="HSE Sans" panose="02000000000000000000"/>
            </a:endParaRPr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AE680972-0885-1A24-0EFE-67F402E4BCAA}"/>
              </a:ext>
            </a:extLst>
          </p:cNvPr>
          <p:cNvSpPr/>
          <p:nvPr/>
        </p:nvSpPr>
        <p:spPr>
          <a:xfrm>
            <a:off x="3679086" y="268146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0A82E"/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>
              <a:latin typeface="HSE Sans" panose="02000000000000000000"/>
            </a:endParaRPr>
          </a:p>
        </p:txBody>
      </p:sp>
      <p:sp>
        <p:nvSpPr>
          <p:cNvPr id="36" name="Shape 11">
            <a:extLst>
              <a:ext uri="{FF2B5EF4-FFF2-40B4-BE49-F238E27FC236}">
                <a16:creationId xmlns:a16="http://schemas.microsoft.com/office/drawing/2014/main" id="{37E42147-DF0B-35E8-F13B-01E7172D1354}"/>
              </a:ext>
            </a:extLst>
          </p:cNvPr>
          <p:cNvSpPr/>
          <p:nvPr/>
        </p:nvSpPr>
        <p:spPr>
          <a:xfrm>
            <a:off x="3999126" y="2178545"/>
            <a:ext cx="3383280" cy="1371600"/>
          </a:xfrm>
          <a:prstGeom prst="roundRect">
            <a:avLst>
              <a:gd name="adj" fmla="val 3333"/>
            </a:avLst>
          </a:prstGeom>
          <a:solidFill>
            <a:srgbClr val="16243B"/>
          </a:solidFill>
          <a:ln w="12700">
            <a:solidFill>
              <a:srgbClr val="33475B"/>
            </a:solidFill>
            <a:prstDash val="solid"/>
          </a:ln>
        </p:spPr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0A7520DD-66D4-F13E-5AFF-5E3776212BB6}"/>
              </a:ext>
            </a:extLst>
          </p:cNvPr>
          <p:cNvSpPr/>
          <p:nvPr/>
        </p:nvSpPr>
        <p:spPr>
          <a:xfrm>
            <a:off x="4182006" y="2315705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A82E"/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>
              <a:latin typeface="HSE Sans" panose="02000000000000000000"/>
            </a:endParaRPr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A01EC6E9-6BAA-A49F-ACAB-3B4FFE730FB4}"/>
              </a:ext>
            </a:extLst>
          </p:cNvPr>
          <p:cNvSpPr/>
          <p:nvPr/>
        </p:nvSpPr>
        <p:spPr>
          <a:xfrm>
            <a:off x="4182006" y="2772905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DSR ≈ 0</a:t>
            </a:r>
            <a:endParaRPr lang="en-US" sz="1400" dirty="0">
              <a:latin typeface="HSE Sans" panose="02000000000000000000"/>
            </a:endParaRPr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03E5629A-C829-7E77-C102-9A56F6A5A7BA}"/>
              </a:ext>
            </a:extLst>
          </p:cNvPr>
          <p:cNvSpPr/>
          <p:nvPr/>
        </p:nvSpPr>
        <p:spPr>
          <a:xfrm>
            <a:off x="4182006" y="3092945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BCD0"/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Sharpe незначим после поправки на отбор</a:t>
            </a:r>
            <a:endParaRPr lang="en-US" sz="1100" dirty="0">
              <a:latin typeface="HSE Sans" panose="02000000000000000000"/>
            </a:endParaRPr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8A10746A-BF46-C4CC-3558-28DAFB4E498E}"/>
              </a:ext>
            </a:extLst>
          </p:cNvPr>
          <p:cNvSpPr/>
          <p:nvPr/>
        </p:nvSpPr>
        <p:spPr>
          <a:xfrm>
            <a:off x="4182006" y="3294113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E8FA6"/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раздел 3.4.4</a:t>
            </a:r>
            <a:endParaRPr lang="en-US" sz="950" dirty="0">
              <a:latin typeface="HSE Sans" panose="02000000000000000000"/>
            </a:endParaRPr>
          </a:p>
        </p:txBody>
      </p:sp>
      <p:sp>
        <p:nvSpPr>
          <p:cNvPr id="41" name="Text 16">
            <a:extLst>
              <a:ext uri="{FF2B5EF4-FFF2-40B4-BE49-F238E27FC236}">
                <a16:creationId xmlns:a16="http://schemas.microsoft.com/office/drawing/2014/main" id="{9FF556ED-4392-21CC-E96D-12DFF66ABC57}"/>
              </a:ext>
            </a:extLst>
          </p:cNvPr>
          <p:cNvSpPr/>
          <p:nvPr/>
        </p:nvSpPr>
        <p:spPr>
          <a:xfrm>
            <a:off x="7245246" y="268146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0A82E"/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>
              <a:latin typeface="HSE Sans" panose="02000000000000000000"/>
            </a:endParaRPr>
          </a:p>
        </p:txBody>
      </p:sp>
      <p:sp>
        <p:nvSpPr>
          <p:cNvPr id="42" name="Shape 17">
            <a:extLst>
              <a:ext uri="{FF2B5EF4-FFF2-40B4-BE49-F238E27FC236}">
                <a16:creationId xmlns:a16="http://schemas.microsoft.com/office/drawing/2014/main" id="{3C84C319-15D7-EFB7-986A-74AC1A4610A8}"/>
              </a:ext>
            </a:extLst>
          </p:cNvPr>
          <p:cNvSpPr/>
          <p:nvPr/>
        </p:nvSpPr>
        <p:spPr>
          <a:xfrm>
            <a:off x="7565286" y="2178545"/>
            <a:ext cx="3383280" cy="1371600"/>
          </a:xfrm>
          <a:prstGeom prst="roundRect">
            <a:avLst>
              <a:gd name="adj" fmla="val 3333"/>
            </a:avLst>
          </a:prstGeom>
          <a:solidFill>
            <a:srgbClr val="16243B"/>
          </a:solidFill>
          <a:ln w="12700">
            <a:solidFill>
              <a:srgbClr val="33475B"/>
            </a:solidFill>
            <a:prstDash val="solid"/>
          </a:ln>
        </p:spPr>
      </p:sp>
      <p:sp>
        <p:nvSpPr>
          <p:cNvPr id="43" name="Text 18">
            <a:extLst>
              <a:ext uri="{FF2B5EF4-FFF2-40B4-BE49-F238E27FC236}">
                <a16:creationId xmlns:a16="http://schemas.microsoft.com/office/drawing/2014/main" id="{37A352F2-65D1-E9FF-5E9E-A180924D215E}"/>
              </a:ext>
            </a:extLst>
          </p:cNvPr>
          <p:cNvSpPr/>
          <p:nvPr/>
        </p:nvSpPr>
        <p:spPr>
          <a:xfrm>
            <a:off x="7748166" y="2315705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A82E"/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>
              <a:latin typeface="HSE Sans" panose="02000000000000000000"/>
            </a:endParaRPr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8EFAFEE5-4BB5-1C9A-D7AD-687E03E6922C}"/>
              </a:ext>
            </a:extLst>
          </p:cNvPr>
          <p:cNvSpPr/>
          <p:nvPr/>
        </p:nvSpPr>
        <p:spPr>
          <a:xfrm>
            <a:off x="7748166" y="2772905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Permutation p = 0.31</a:t>
            </a:r>
            <a:endParaRPr lang="en-US" sz="1400" dirty="0">
              <a:latin typeface="HSE Sans" panose="02000000000000000000"/>
            </a:endParaRPr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BBFD58F0-2786-CD2C-E0C9-705FAA7FB94E}"/>
              </a:ext>
            </a:extLst>
          </p:cNvPr>
          <p:cNvSpPr/>
          <p:nvPr/>
        </p:nvSpPr>
        <p:spPr>
          <a:xfrm>
            <a:off x="7748166" y="3092945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BCD0"/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неотличим от случайной торговли</a:t>
            </a:r>
            <a:endParaRPr lang="en-US" sz="1100" dirty="0">
              <a:latin typeface="HSE Sans" panose="02000000000000000000"/>
            </a:endParaRPr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3ADB87CB-A723-C3E5-11A5-78DFAF9992DA}"/>
              </a:ext>
            </a:extLst>
          </p:cNvPr>
          <p:cNvSpPr/>
          <p:nvPr/>
        </p:nvSpPr>
        <p:spPr>
          <a:xfrm>
            <a:off x="7748166" y="3294113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E8FA6"/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раздел 3.4.5</a:t>
            </a:r>
            <a:endParaRPr lang="en-US" sz="950" dirty="0">
              <a:latin typeface="HSE Sans" panose="02000000000000000000"/>
            </a:endParaRPr>
          </a:p>
        </p:txBody>
      </p:sp>
      <p:sp>
        <p:nvSpPr>
          <p:cNvPr id="47" name="Text 25">
            <a:extLst>
              <a:ext uri="{FF2B5EF4-FFF2-40B4-BE49-F238E27FC236}">
                <a16:creationId xmlns:a16="http://schemas.microsoft.com/office/drawing/2014/main" id="{D318E126-804A-66D5-5E20-4DB982511F0A}"/>
              </a:ext>
            </a:extLst>
          </p:cNvPr>
          <p:cNvSpPr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Источники: [1] Малинецкий, Потапов · [2] Fama · [14] Lo    |    разделы 3.5, 3.6 · глава 1</a:t>
            </a:r>
            <a:endParaRPr lang="en-US" sz="95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41C67A5B-D0E8-68B4-E0D5-819944ECBB7A}"/>
              </a:ext>
            </a:extLst>
          </p:cNvPr>
          <p:cNvSpPr/>
          <p:nvPr/>
        </p:nvSpPr>
        <p:spPr>
          <a:xfrm>
            <a:off x="432966" y="4039573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1300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Согласуется с эффективностью ликвидного рынка [2, 14] и теоретическими ограничениями главы 1 — проклятием размерности и некорректностью задачи оценки по Адамару [1].</a:t>
            </a:r>
            <a:endParaRPr lang="en-US" sz="130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0D99EEA5-ABC0-914A-0A6D-B948F3D7F9F4}"/>
              </a:ext>
            </a:extLst>
          </p:cNvPr>
          <p:cNvSpPr/>
          <p:nvPr/>
        </p:nvSpPr>
        <p:spPr>
          <a:xfrm>
            <a:off x="432966" y="4967603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1350" b="1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Вклад: </a:t>
            </a:r>
            <a:r>
              <a:rPr lang="en-US" sz="1350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строгий воспроизводимый протокол проверки гипотез о предсказуемости и честный </a:t>
            </a:r>
            <a:r>
              <a:rPr lang="en-US" sz="1350" dirty="0" err="1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отрицательный</a:t>
            </a:r>
            <a:r>
              <a:rPr lang="en-US" sz="1350" dirty="0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chemeClr val="bg2">
                    <a:lumMod val="10000"/>
                  </a:schemeClr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350" dirty="0">
              <a:solidFill>
                <a:schemeClr val="bg2">
                  <a:lumMod val="10000"/>
                </a:schemeClr>
              </a:solidFill>
              <a:latin typeface="HSE Sans" panose="020000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3021170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23822-0815-E454-9240-AF682BDF2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B8EFA77-0D68-0EC7-8021-525EC1BD6253}"/>
              </a:ext>
            </a:extLst>
          </p:cNvPr>
          <p:cNvSpPr txBox="1"/>
          <p:nvPr/>
        </p:nvSpPr>
        <p:spPr>
          <a:xfrm>
            <a:off x="114923" y="976598"/>
            <a:ext cx="11677338" cy="5794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800" u="none" strike="noStrike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Малинецкий</a:t>
            </a:r>
            <a:r>
              <a:rPr lang="ru-RU" sz="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Г. Г. Современные проблемы нелинейной динамики / Г. Г. </a:t>
            </a:r>
            <a:r>
              <a:rPr lang="ru-RU" sz="800" u="none" strike="noStrike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Малинецкий</a:t>
            </a:r>
            <a:r>
              <a:rPr lang="ru-RU" sz="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А. Б. Потапов. — Москва : </a:t>
            </a:r>
            <a:r>
              <a:rPr lang="ru-RU" sz="800" u="none" strike="noStrike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Эдиториал</a:t>
            </a:r>
            <a:r>
              <a:rPr lang="ru-RU" sz="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УРСС, 2000. — 336 с.</a:t>
            </a:r>
            <a:endParaRPr lang="ru-RU" sz="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en-US" sz="800" u="none" strike="noStrike" dirty="0">
                <a:effectLst/>
                <a:latin typeface="HSE Sans" panose="02000000000000000000"/>
                <a:ea typeface="Times New Roman" panose="02020603050405020304" pitchFamily="18" charset="0"/>
              </a:rPr>
              <a:t>Fama E. F. Efficient capital markets: A review of theory and empirical work // The Journal of Finance. — 1970. — Vol. 25, № 2. — P. 383–417.</a:t>
            </a:r>
            <a:endParaRPr lang="ru-RU" sz="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en-US" sz="800" u="none" strike="noStrike" dirty="0" err="1">
                <a:effectLst/>
                <a:latin typeface="HSE Sans" panose="02000000000000000000"/>
                <a:ea typeface="Times New Roman" panose="02020603050405020304" pitchFamily="18" charset="0"/>
              </a:rPr>
              <a:t>Cont</a:t>
            </a:r>
            <a:r>
              <a:rPr lang="en-US" sz="800" u="none" strike="noStrike" dirty="0">
                <a:effectLst/>
                <a:latin typeface="HSE Sans" panose="02000000000000000000"/>
                <a:ea typeface="Times New Roman" panose="02020603050405020304" pitchFamily="18" charset="0"/>
              </a:rPr>
              <a:t> R. Empirical properties of asset returns: stylized facts and statistical issues // Quantitative Finance. — 2001. — Vol. 1, № 2. — P. 223.</a:t>
            </a:r>
            <a:endParaRPr lang="ru-RU" sz="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en-US" sz="800" u="none" strike="noStrike" dirty="0">
                <a:effectLst/>
                <a:latin typeface="HSE Sans" panose="02000000000000000000"/>
                <a:ea typeface="Times New Roman" panose="02020603050405020304" pitchFamily="18" charset="0"/>
              </a:rPr>
              <a:t>Eom C., </a:t>
            </a:r>
            <a:r>
              <a:rPr lang="en-US" sz="800" u="none" strike="noStrike" dirty="0" err="1">
                <a:effectLst/>
                <a:latin typeface="HSE Sans" panose="02000000000000000000"/>
                <a:ea typeface="Times New Roman" panose="02020603050405020304" pitchFamily="18" charset="0"/>
              </a:rPr>
              <a:t>Kaizoji</a:t>
            </a:r>
            <a:r>
              <a:rPr lang="en-US" sz="800" u="none" strike="noStrike" dirty="0">
                <a:effectLst/>
                <a:latin typeface="HSE Sans" panose="02000000000000000000"/>
                <a:ea typeface="Times New Roman" panose="02020603050405020304" pitchFamily="18" charset="0"/>
              </a:rPr>
              <a:t> T., </a:t>
            </a:r>
            <a:r>
              <a:rPr lang="en-US" sz="800" u="none" strike="noStrike" dirty="0" err="1">
                <a:effectLst/>
                <a:latin typeface="HSE Sans" panose="02000000000000000000"/>
                <a:ea typeface="Times New Roman" panose="02020603050405020304" pitchFamily="18" charset="0"/>
              </a:rPr>
              <a:t>Scalas</a:t>
            </a:r>
            <a:r>
              <a:rPr lang="en-US" sz="800" u="none" strike="noStrike" dirty="0">
                <a:effectLst/>
                <a:latin typeface="HSE Sans" panose="02000000000000000000"/>
                <a:ea typeface="Times New Roman" panose="02020603050405020304" pitchFamily="18" charset="0"/>
              </a:rPr>
              <a:t> E. Fat tails in financial return distributions revisited: Evidence from the Korean stock market // Physica A: Statistical Mechanics and its Applications. — 2019. — Vol. 526. — P. 121055.</a:t>
            </a:r>
            <a:endParaRPr lang="ru-RU" sz="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en-US" sz="800" u="none" strike="noStrike" dirty="0" err="1">
                <a:effectLst/>
                <a:latin typeface="HSE Sans" panose="02000000000000000000"/>
                <a:ea typeface="Times New Roman" panose="02020603050405020304" pitchFamily="18" charset="0"/>
              </a:rPr>
              <a:t>Plerou</a:t>
            </a:r>
            <a:r>
              <a:rPr lang="en-US" sz="800" u="none" strike="noStrike" dirty="0">
                <a:effectLst/>
                <a:latin typeface="HSE Sans" panose="02000000000000000000"/>
                <a:ea typeface="Times New Roman" panose="02020603050405020304" pitchFamily="18" charset="0"/>
              </a:rPr>
              <a:t> V. et al. Scaling of the distribution of price fluctuations of individual companies // Physical Review E. — 1999. — Vol. 60, № 6. — P. 6519.</a:t>
            </a:r>
            <a:endParaRPr lang="ru-RU" sz="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en-US" sz="800" u="none" strike="noStrike" dirty="0">
                <a:effectLst/>
                <a:latin typeface="HSE Sans" panose="02000000000000000000"/>
                <a:ea typeface="Times New Roman" panose="02020603050405020304" pitchFamily="18" charset="0"/>
              </a:rPr>
              <a:t>Tseng J. J., Li S. P. Asset returns and volatility clustering in financial time series // Physica A: Statistical Mechanics and its Applications. — 2011. — Vol. 390, № 7. — P. 1300–1314.</a:t>
            </a:r>
            <a:endParaRPr lang="ru-RU" sz="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en-US" sz="800" u="none" strike="noStrike" dirty="0">
                <a:effectLst/>
                <a:latin typeface="HSE Sans" panose="02000000000000000000"/>
                <a:ea typeface="Times New Roman" panose="02020603050405020304" pitchFamily="18" charset="0"/>
              </a:rPr>
              <a:t>Traut J., </a:t>
            </a:r>
            <a:r>
              <a:rPr lang="en-US" sz="800" u="none" strike="noStrike" dirty="0" err="1">
                <a:effectLst/>
                <a:latin typeface="HSE Sans" panose="02000000000000000000"/>
                <a:ea typeface="Times New Roman" panose="02020603050405020304" pitchFamily="18" charset="0"/>
              </a:rPr>
              <a:t>Schadner</a:t>
            </a:r>
            <a:r>
              <a:rPr lang="en-US" sz="800" u="none" strike="noStrike" dirty="0">
                <a:effectLst/>
                <a:latin typeface="HSE Sans" panose="02000000000000000000"/>
                <a:ea typeface="Times New Roman" panose="02020603050405020304" pitchFamily="18" charset="0"/>
              </a:rPr>
              <a:t> W. Which is Worse: Heavy Tails or Volatility Clusters? // Swiss Finance Institute Research Paper. — 2023. — P. 23–61.</a:t>
            </a:r>
            <a:endParaRPr lang="ru-RU" sz="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en-US" sz="800" u="none" strike="noStrike" dirty="0">
                <a:effectLst/>
                <a:latin typeface="HSE Sans" panose="02000000000000000000"/>
                <a:ea typeface="Times New Roman" panose="02020603050405020304" pitchFamily="18" charset="0"/>
              </a:rPr>
              <a:t>Hsieh D. A. Chaos and nonlinear dynamics: application to financial markets // The Journal of Finance. — 1991. — Vol. 46, № 5. — P. 1839–1877.</a:t>
            </a:r>
            <a:endParaRPr lang="ru-RU" sz="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en-US" sz="800" u="none" strike="noStrike" dirty="0">
                <a:effectLst/>
                <a:latin typeface="HSE Sans" panose="02000000000000000000"/>
                <a:ea typeface="Times New Roman" panose="02020603050405020304" pitchFamily="18" charset="0"/>
              </a:rPr>
              <a:t>McKenzie M. D. Chaotic behavior in national stock market indices: New evidence from the close returns test // Global Finance Journal. — 2001. — Vol. 12, № 1. — P. 35–53.</a:t>
            </a:r>
            <a:endParaRPr lang="ru-RU" sz="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en-US" sz="800" u="none" strike="noStrike" dirty="0" err="1">
                <a:effectLst/>
                <a:latin typeface="HSE Sans" panose="02000000000000000000"/>
                <a:ea typeface="Times New Roman" panose="02020603050405020304" pitchFamily="18" charset="0"/>
              </a:rPr>
              <a:t>Serletis</a:t>
            </a:r>
            <a:r>
              <a:rPr lang="en-US" sz="800" u="none" strike="noStrike" dirty="0">
                <a:effectLst/>
                <a:latin typeface="HSE Sans" panose="02000000000000000000"/>
                <a:ea typeface="Times New Roman" panose="02020603050405020304" pitchFamily="18" charset="0"/>
              </a:rPr>
              <a:t> A., Shintani M. No evidence of chaos but some evidence of dependence in the US stock market // Chaos, Solitons &amp; Fractals. — 2003. — Vol. 17, № 2–3. — P. 449–454.</a:t>
            </a:r>
            <a:endParaRPr lang="ru-RU" sz="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en-US" sz="800" u="none" strike="noStrike" dirty="0" err="1">
                <a:effectLst/>
                <a:latin typeface="HSE Sans" panose="02000000000000000000"/>
                <a:ea typeface="Times New Roman" panose="02020603050405020304" pitchFamily="18" charset="0"/>
              </a:rPr>
              <a:t>Inglada</a:t>
            </a:r>
            <a:r>
              <a:rPr lang="en-US" sz="800" u="none" strike="noStrike" dirty="0">
                <a:effectLst/>
                <a:latin typeface="HSE Sans" panose="02000000000000000000"/>
                <a:ea typeface="Times New Roman" panose="02020603050405020304" pitchFamily="18" charset="0"/>
              </a:rPr>
              <a:t>-Perez L. A comprehensive framework for uncovering non-linearity and chaos in financial markets: Empirical evidence for four major stock market indices // Entropy. — 2020. — Vol. 22, № 12. — P. 1435.</a:t>
            </a:r>
            <a:endParaRPr lang="ru-RU" sz="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en-US" sz="800" u="none" strike="noStrike" dirty="0" err="1">
                <a:effectLst/>
                <a:latin typeface="HSE Sans" panose="02000000000000000000"/>
                <a:ea typeface="Times New Roman" panose="02020603050405020304" pitchFamily="18" charset="0"/>
              </a:rPr>
              <a:t>BenSaïda</a:t>
            </a:r>
            <a:r>
              <a:rPr lang="en-US" sz="800" u="none" strike="noStrike" dirty="0">
                <a:effectLst/>
                <a:latin typeface="HSE Sans" panose="02000000000000000000"/>
                <a:ea typeface="Times New Roman" panose="02020603050405020304" pitchFamily="18" charset="0"/>
              </a:rPr>
              <a:t> A., </a:t>
            </a:r>
            <a:r>
              <a:rPr lang="en-US" sz="800" u="none" strike="noStrike" dirty="0" err="1">
                <a:effectLst/>
                <a:latin typeface="HSE Sans" panose="02000000000000000000"/>
                <a:ea typeface="Times New Roman" panose="02020603050405020304" pitchFamily="18" charset="0"/>
              </a:rPr>
              <a:t>Litimi</a:t>
            </a:r>
            <a:r>
              <a:rPr lang="en-US" sz="800" u="none" strike="noStrike" dirty="0">
                <a:effectLst/>
                <a:latin typeface="HSE Sans" panose="02000000000000000000"/>
                <a:ea typeface="Times New Roman" panose="02020603050405020304" pitchFamily="18" charset="0"/>
              </a:rPr>
              <a:t> H. High level chaos in the exchange and index markets // Chaos, Solitons &amp; Fractals. — 2013. — Vol. 54. — P. 90–95.</a:t>
            </a:r>
            <a:endParaRPr lang="ru-RU" sz="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en-US" sz="800" u="none" strike="noStrike" dirty="0">
                <a:effectLst/>
                <a:latin typeface="HSE Sans" panose="02000000000000000000"/>
                <a:ea typeface="Times New Roman" panose="02020603050405020304" pitchFamily="18" charset="0"/>
              </a:rPr>
              <a:t>Tiwari A. K., Gupta R. Chaos in G7 stock markets using over one century of data: A note // Research in International Business and Finance. — 2019. — Vol. 47. — P. 304–310.</a:t>
            </a:r>
            <a:endParaRPr lang="ru-RU" sz="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en-US" sz="800" u="none" strike="noStrike" dirty="0">
                <a:effectLst/>
                <a:latin typeface="HSE Sans" panose="02000000000000000000"/>
                <a:ea typeface="Times New Roman" panose="02020603050405020304" pitchFamily="18" charset="0"/>
              </a:rPr>
              <a:t>Lo A. W. The adaptive markets hypothesis: Market efficiency from an evolutionary perspective // Journal of Portfolio Management, Forthcoming. — 2004.</a:t>
            </a:r>
            <a:endParaRPr lang="ru-RU" sz="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en-US" sz="800" u="none" strike="noStrike" dirty="0">
                <a:effectLst/>
                <a:latin typeface="HSE Sans" panose="02000000000000000000"/>
                <a:ea typeface="Times New Roman" panose="02020603050405020304" pitchFamily="18" charset="0"/>
              </a:rPr>
              <a:t>Packard N. H. et al. Geometry from a time series // Physical Review Letters. — 1980. — Vol. 45, № 9. — P. 712.</a:t>
            </a:r>
            <a:endParaRPr lang="ru-RU" sz="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en-US" sz="800" u="none" strike="noStrike" dirty="0" err="1">
                <a:effectLst/>
                <a:latin typeface="HSE Sans" panose="02000000000000000000"/>
                <a:ea typeface="Times New Roman" panose="02020603050405020304" pitchFamily="18" charset="0"/>
              </a:rPr>
              <a:t>Takens</a:t>
            </a:r>
            <a:r>
              <a:rPr lang="en-US" sz="800" u="none" strike="noStrike" dirty="0">
                <a:effectLst/>
                <a:latin typeface="HSE Sans" panose="02000000000000000000"/>
                <a:ea typeface="Times New Roman" panose="02020603050405020304" pitchFamily="18" charset="0"/>
              </a:rPr>
              <a:t> F. Detecting strange attractors in turbulence // Dynamical Systems and Turbulence, Warwick 1980: proceedings of a symposium held at the University of Warwick 1979/80. — Berlin, Heidelberg : Springer Berlin Heidelberg, 2006. — P. 366–381.</a:t>
            </a:r>
            <a:endParaRPr lang="ru-RU" sz="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en-US" sz="800" u="none" strike="noStrike" dirty="0">
                <a:effectLst/>
                <a:latin typeface="HSE Sans" panose="02000000000000000000"/>
                <a:ea typeface="Times New Roman" panose="02020603050405020304" pitchFamily="18" charset="0"/>
              </a:rPr>
              <a:t>Sauer T., Yorke J. A., </a:t>
            </a:r>
            <a:r>
              <a:rPr lang="en-US" sz="800" u="none" strike="noStrike" dirty="0" err="1">
                <a:effectLst/>
                <a:latin typeface="HSE Sans" panose="02000000000000000000"/>
                <a:ea typeface="Times New Roman" panose="02020603050405020304" pitchFamily="18" charset="0"/>
              </a:rPr>
              <a:t>Casdagli</a:t>
            </a:r>
            <a:r>
              <a:rPr lang="en-US" sz="800" u="none" strike="noStrike" dirty="0">
                <a:effectLst/>
                <a:latin typeface="HSE Sans" panose="02000000000000000000"/>
                <a:ea typeface="Times New Roman" panose="02020603050405020304" pitchFamily="18" charset="0"/>
              </a:rPr>
              <a:t> M. </a:t>
            </a:r>
            <a:r>
              <a:rPr lang="en-US" sz="800" u="none" strike="noStrike" dirty="0" err="1">
                <a:effectLst/>
                <a:latin typeface="HSE Sans" panose="02000000000000000000"/>
                <a:ea typeface="Times New Roman" panose="02020603050405020304" pitchFamily="18" charset="0"/>
              </a:rPr>
              <a:t>Embedology</a:t>
            </a:r>
            <a:r>
              <a:rPr lang="en-US" sz="800" u="none" strike="noStrike" dirty="0">
                <a:effectLst/>
                <a:latin typeface="HSE Sans" panose="02000000000000000000"/>
                <a:ea typeface="Times New Roman" panose="02020603050405020304" pitchFamily="18" charset="0"/>
              </a:rPr>
              <a:t> // Journal of Statistical Physics. — 1991. — Vol. 65, № 3. — P. 579–616.</a:t>
            </a:r>
            <a:endParaRPr lang="ru-RU" sz="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en-US" sz="800" u="none" strike="noStrike" dirty="0">
                <a:effectLst/>
                <a:latin typeface="HSE Sans" panose="02000000000000000000"/>
                <a:ea typeface="Times New Roman" panose="02020603050405020304" pitchFamily="18" charset="0"/>
              </a:rPr>
              <a:t>Young C. D., Graham M. D. Deep learning delay coordinate dynamics for chaotic attractors from partial observable data // Physical Review E. — 2023. — Vol. 107, № 3. — P. 034215.</a:t>
            </a:r>
            <a:endParaRPr lang="ru-RU" sz="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en-US" sz="800" u="none" strike="noStrike" dirty="0">
                <a:effectLst/>
                <a:latin typeface="HSE Sans" panose="02000000000000000000"/>
                <a:ea typeface="Times New Roman" panose="02020603050405020304" pitchFamily="18" charset="0"/>
              </a:rPr>
              <a:t>Khan H. A. et al. Enhancement of neural networks model’s predictions of currencies exchange rates by phase space reconstruction and Harris Hawks’ optimization // Computational Economics. — 2024. — Vol. 63, № 2. — P. 835–860.</a:t>
            </a:r>
            <a:endParaRPr lang="ru-RU" sz="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en-US" sz="800" u="none" strike="noStrike" dirty="0">
                <a:effectLst/>
                <a:latin typeface="HSE Sans" panose="02000000000000000000"/>
                <a:ea typeface="Times New Roman" panose="02020603050405020304" pitchFamily="18" charset="0"/>
              </a:rPr>
              <a:t>Li J. et al. Multivariable financial time series forecasting based on phase space reconstruction compensation // Neural Computing and Applications. — 2025. — Vol. 37, № 3. — P. 1389–1402.</a:t>
            </a:r>
            <a:endParaRPr lang="ru-RU" sz="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en-US" sz="800" u="none" strike="noStrike" dirty="0">
                <a:effectLst/>
                <a:latin typeface="HSE Sans" panose="02000000000000000000"/>
                <a:ea typeface="Times New Roman" panose="02020603050405020304" pitchFamily="18" charset="0"/>
              </a:rPr>
              <a:t>Fraser A. M., Swinney H. L. Independent coordinates for strange attractors from mutual information // Physical Review A. — 1986. — Vol. 33, № 2. — P. 1134.</a:t>
            </a:r>
            <a:endParaRPr lang="ru-RU" sz="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en-US" sz="800" u="none" strike="noStrike" dirty="0">
                <a:effectLst/>
                <a:latin typeface="HSE Sans" panose="02000000000000000000"/>
                <a:ea typeface="Times New Roman" panose="02020603050405020304" pitchFamily="18" charset="0"/>
              </a:rPr>
              <a:t>Kennel M. B., Brown R., Abarbanel H. D. I. Determining embedding dimension for phase-space reconstruction using a geometrical construction // Physical Review A. — 1992. — Vol. 45, № 6. — P. 3403.</a:t>
            </a:r>
            <a:endParaRPr lang="ru-RU" sz="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en-US" sz="800" u="none" strike="noStrike" dirty="0">
                <a:effectLst/>
                <a:latin typeface="HSE Sans" panose="02000000000000000000"/>
                <a:ea typeface="Times New Roman" panose="02020603050405020304" pitchFamily="18" charset="0"/>
              </a:rPr>
              <a:t>Cao L. Practical method for determining the minimum embedding dimension of a scalar time series // Physica D: Nonlinear Phenomena. — 1997. — Vol. 110, № 1–2. — P. 43–50.</a:t>
            </a:r>
            <a:endParaRPr lang="ru-RU" sz="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en-US" sz="800" u="none" strike="noStrike" dirty="0">
                <a:effectLst/>
                <a:latin typeface="HSE Sans" panose="02000000000000000000"/>
                <a:ea typeface="Times New Roman" panose="02020603050405020304" pitchFamily="18" charset="0"/>
              </a:rPr>
              <a:t>Tan E. et al. Selecting embedding delays: An overview of embedding techniques and a new method using persistent homology // Chaos: An Interdisciplinary Journal of Nonlinear Science. — 2023. — Vol. 33, № 3.</a:t>
            </a:r>
            <a:endParaRPr lang="ru-RU" sz="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en-US" sz="800" u="none" strike="noStrike" dirty="0">
                <a:effectLst/>
                <a:latin typeface="HSE Sans" panose="02000000000000000000"/>
                <a:ea typeface="Times New Roman" panose="02020603050405020304" pitchFamily="18" charset="0"/>
              </a:rPr>
              <a:t>Holder C., Middlehurst M., Bagnall A. A review and evaluation of elastic distance functions for time series clustering // Knowledge and Information Systems. — 2024. — Vol. 66, № 2. — P. 765–809.</a:t>
            </a:r>
            <a:endParaRPr lang="ru-RU" sz="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en-US" sz="800" u="none" strike="noStrike" dirty="0">
                <a:effectLst/>
                <a:latin typeface="HSE Sans" panose="02000000000000000000"/>
                <a:ea typeface="Times New Roman" panose="02020603050405020304" pitchFamily="18" charset="0"/>
              </a:rPr>
              <a:t>Bo S., Xiao M. Time-series k-means in causal inference and mechanism clustering for financial data // Proceedings of the 2024 7th International Conference on Computer Information Science and Artificial Intelligence. — 2024. — P. 515–520.</a:t>
            </a:r>
            <a:endParaRPr lang="ru-RU" sz="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en-US" sz="800" u="none" strike="noStrike" dirty="0" err="1">
                <a:effectLst/>
                <a:latin typeface="HSE Sans" panose="02000000000000000000"/>
                <a:ea typeface="Times New Roman" panose="02020603050405020304" pitchFamily="18" charset="0"/>
              </a:rPr>
              <a:t>Akioyamen</a:t>
            </a:r>
            <a:r>
              <a:rPr lang="en-US" sz="800" u="none" strike="noStrike" dirty="0">
                <a:effectLst/>
                <a:latin typeface="HSE Sans" panose="02000000000000000000"/>
                <a:ea typeface="Times New Roman" panose="02020603050405020304" pitchFamily="18" charset="0"/>
              </a:rPr>
              <a:t> P., Tang Y. Z., Hussien H. A hybrid learning approach to detecting regime switches in financial markets // Proceedings of the First ACM International Conference on AI in Finance. — 2020. — P. 1–7.</a:t>
            </a:r>
            <a:endParaRPr lang="ru-RU" sz="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en-US" sz="800" u="none" strike="noStrike" dirty="0">
                <a:effectLst/>
                <a:latin typeface="HSE Sans" panose="02000000000000000000"/>
                <a:ea typeface="Times New Roman" panose="02020603050405020304" pitchFamily="18" charset="0"/>
              </a:rPr>
              <a:t>Horvath B., Issa Z., Muguruza A. Clustering market regimes using the Wasserstein distance // </a:t>
            </a:r>
            <a:r>
              <a:rPr lang="en-US" sz="800" u="none" strike="noStrike" dirty="0" err="1">
                <a:effectLst/>
                <a:latin typeface="HSE Sans" panose="02000000000000000000"/>
                <a:ea typeface="Times New Roman" panose="02020603050405020304" pitchFamily="18" charset="0"/>
              </a:rPr>
              <a:t>arXiv</a:t>
            </a:r>
            <a:r>
              <a:rPr lang="en-US" sz="800" u="none" strike="noStrike" dirty="0">
                <a:effectLst/>
                <a:latin typeface="HSE Sans" panose="02000000000000000000"/>
                <a:ea typeface="Times New Roman" panose="02020603050405020304" pitchFamily="18" charset="0"/>
              </a:rPr>
              <a:t> preprint arXiv:2110.11848. — 2021.</a:t>
            </a:r>
            <a:endParaRPr lang="ru-RU" sz="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en-US" sz="800" u="none" strike="noStrike" dirty="0">
                <a:effectLst/>
                <a:latin typeface="HSE Sans" panose="02000000000000000000"/>
                <a:ea typeface="Times New Roman" panose="02020603050405020304" pitchFamily="18" charset="0"/>
              </a:rPr>
              <a:t>Luan Q., Hamp J. Automated regime classification in multidimensional time series data using sliced Wasserstein k-means clustering // Data Science in Finance and Economics. — 2025. — Vol. 5, № 3. — P. 387–418.</a:t>
            </a:r>
            <a:endParaRPr lang="ru-RU" sz="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en-US" sz="800" u="none" strike="noStrike" dirty="0" err="1">
                <a:effectLst/>
                <a:latin typeface="HSE Sans" panose="02000000000000000000"/>
                <a:ea typeface="Times New Roman" panose="02020603050405020304" pitchFamily="18" charset="0"/>
              </a:rPr>
              <a:t>Bilokon</a:t>
            </a:r>
            <a:r>
              <a:rPr lang="en-US" sz="800" u="none" strike="noStrike" dirty="0">
                <a:effectLst/>
                <a:latin typeface="HSE Sans" panose="02000000000000000000"/>
                <a:ea typeface="Times New Roman" panose="02020603050405020304" pitchFamily="18" charset="0"/>
              </a:rPr>
              <a:t> P., Jacquier A., McIndoe C. Market regime classification with signatures // </a:t>
            </a:r>
            <a:r>
              <a:rPr lang="en-US" sz="800" u="none" strike="noStrike" dirty="0" err="1">
                <a:effectLst/>
                <a:latin typeface="HSE Sans" panose="02000000000000000000"/>
                <a:ea typeface="Times New Roman" panose="02020603050405020304" pitchFamily="18" charset="0"/>
              </a:rPr>
              <a:t>arXiv</a:t>
            </a:r>
            <a:r>
              <a:rPr lang="en-US" sz="800" u="none" strike="noStrike" dirty="0">
                <a:effectLst/>
                <a:latin typeface="HSE Sans" panose="02000000000000000000"/>
                <a:ea typeface="Times New Roman" panose="02020603050405020304" pitchFamily="18" charset="0"/>
              </a:rPr>
              <a:t> preprint arXiv:2107.00066. — 2021.</a:t>
            </a:r>
            <a:endParaRPr lang="ru-RU" sz="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en-US" sz="800" u="none" strike="noStrike" dirty="0">
                <a:effectLst/>
                <a:latin typeface="HSE Sans" panose="02000000000000000000"/>
                <a:ea typeface="Times New Roman" panose="02020603050405020304" pitchFamily="18" charset="0"/>
              </a:rPr>
              <a:t>Jiang J. et al. Forecasting movements of stock time series based on hidden state guided deep learning approach // Information Processing &amp; Management. — 2023. — Vol. 60, № 3. — P. 103328.</a:t>
            </a:r>
            <a:endParaRPr lang="ru-RU" sz="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E043D43A-9345-8D35-65FC-DABF81141A18}"/>
              </a:ext>
            </a:extLst>
          </p:cNvPr>
          <p:cNvSpPr/>
          <p:nvPr/>
        </p:nvSpPr>
        <p:spPr>
          <a:xfrm>
            <a:off x="1036320" y="55763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100" b="1" dirty="0">
                <a:solidFill>
                  <a:srgbClr val="0F2C4C"/>
                </a:solidFill>
                <a:latin typeface="HSE Sans" panose="02000000000000000000"/>
                <a:ea typeface="Calibri" pitchFamily="34" charset="-122"/>
                <a:cs typeface="Calibri" pitchFamily="34" charset="-120"/>
              </a:rPr>
              <a:t>Список использованных источников</a:t>
            </a:r>
            <a:endParaRPr lang="en-US" sz="1100" dirty="0">
              <a:latin typeface="HSE Sans" panose="020000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3104973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000" dirty="0">
            <a:latin typeface="HSE Sans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96afe77-3acb-4328-97fc-408e1bde3ecd" xsi:nil="true"/>
    <lcf76f155ced4ddcb4097134ff3c332f xmlns="9875bd71-cde8-496c-a136-433f55d5e6d0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A9C74E6E830D74E9B0FDDB4017A5417" ma:contentTypeVersion="18" ma:contentTypeDescription="Создание документа." ma:contentTypeScope="" ma:versionID="1a5cfb238914476ded5970f92b127504">
  <xsd:schema xmlns:xsd="http://www.w3.org/2001/XMLSchema" xmlns:xs="http://www.w3.org/2001/XMLSchema" xmlns:p="http://schemas.microsoft.com/office/2006/metadata/properties" xmlns:ns2="9875bd71-cde8-496c-a136-433f55d5e6d0" xmlns:ns3="e96afe77-3acb-4328-97fc-408e1bde3ecd" targetNamespace="http://schemas.microsoft.com/office/2006/metadata/properties" ma:root="true" ma:fieldsID="0adbc20d4fbdbe3247a279c1a10fa71b" ns2:_="" ns3:_="">
    <xsd:import namespace="9875bd71-cde8-496c-a136-433f55d5e6d0"/>
    <xsd:import namespace="e96afe77-3acb-4328-97fc-408e1bde3e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75bd71-cde8-496c-a136-433f55d5e6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0f49e2ad-b3c7-4051-b79b-59f1dbf380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afe77-3acb-4328-97fc-408e1bde3ec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1ca06070-6ad6-44db-a3bf-0d2f4389ef2b}" ma:internalName="TaxCatchAll" ma:showField="CatchAllData" ma:web="e96afe77-3acb-4328-97fc-408e1bde3e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33DAF31-D8A6-49A0-9A5D-8B2EA5B1C511}">
  <ds:schemaRefs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dcmitype/"/>
    <ds:schemaRef ds:uri="e96afe77-3acb-4328-97fc-408e1bde3ecd"/>
    <ds:schemaRef ds:uri="http://schemas.openxmlformats.org/package/2006/metadata/core-properties"/>
    <ds:schemaRef ds:uri="9875bd71-cde8-496c-a136-433f55d5e6d0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34386AA-1848-4C75-B336-1053927CB0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828536A-18C6-49CF-8D1D-F6AA6C1DA5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75bd71-cde8-496c-a136-433f55d5e6d0"/>
    <ds:schemaRef ds:uri="e96afe77-3acb-4328-97fc-408e1bde3e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590</TotalTime>
  <Words>2357</Words>
  <Application>Microsoft Office PowerPoint</Application>
  <PresentationFormat>Широкоэкранный</PresentationFormat>
  <Paragraphs>247</Paragraphs>
  <Slides>9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HSE Sans</vt:lpstr>
      <vt:lpstr>Times New Roman</vt:lpstr>
      <vt:lpstr>Office Theme</vt:lpstr>
      <vt:lpstr>Генерация торговых сигналов с помощью метода прогнозирования на основе кластеризации  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Кутьков Юрий Юрьевич</dc:creator>
  <cp:lastModifiedBy>Danila</cp:lastModifiedBy>
  <cp:revision>75</cp:revision>
  <cp:lastPrinted>2021-11-11T13:08:42Z</cp:lastPrinted>
  <dcterms:created xsi:type="dcterms:W3CDTF">2021-11-11T08:52:47Z</dcterms:created>
  <dcterms:modified xsi:type="dcterms:W3CDTF">2026-06-26T12:18:30Z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0x0101002A9C74E6E830D74E9B0FDDB4017A5417</vt:lpwstr>
  </property>
  <property fmtid="{D5CDD505-2E9C-101B-9397-08002B2CF9AE}" pid="3" name="MediaServiceImageTags">
    <vt:lpwstr/>
  </property>
</Properties>
</file>